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a:solidFill>
                  <a:srgbClr val="FFFFFF"/>
                </a:solidFill>
              </a:rPr>
              <a:t>Label-Mode Accuracy (%)</a:t>
            </a:r>
          </a:p>
        </c:rich>
      </c:tx>
      <c:layout/>
      <c:overlay val="0"/>
    </c:title>
    <c:autoTitleDeleted val="0"/>
    <c:plotArea>
      <c:barChart>
        <c:barDir val="col"/>
        <c:grouping val="clustered"/>
        <c:ser>
          <c:idx val="0"/>
          <c:order val="0"/>
          <c:tx>
            <c:strRef>
              <c:f>Sheet1!$B$1</c:f>
              <c:strCache>
                <c:ptCount val="1"/>
                <c:pt idx="0">
                  <c:v>Label Accuracy (%)</c:v>
                </c:pt>
              </c:strCache>
            </c:strRef>
          </c:tx>
          <c:spPr>
            <a:solidFill>
              <a:srgbClr val="10B981"/>
            </a:solidFill>
          </c:spPr>
          <c:cat>
            <c:strRef>
              <c:f>Sheet1!$A$2:$A$3</c:f>
              <c:strCache>
                <c:ptCount val="2"/>
                <c:pt idx="0">
                  <c:v>Heuristic
Prototype</c:v>
                </c:pt>
                <c:pt idx="1">
                  <c:v>Self-RAG 7B
(HF LLaMA-2)</c:v>
                </c:pt>
              </c:strCache>
            </c:strRef>
          </c:cat>
          <c:val>
            <c:numRef>
              <c:f>Sheet1!$B$2:$B$3</c:f>
              <c:numCache>
                <c:formatCode>General</c:formatCode>
                <c:ptCount val="2"/>
                <c:pt idx="0">
                  <c:v>0</c:v>
                </c:pt>
                <c:pt idx="1">
                  <c:v>20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A8B4CF"/>
                </a:solidFill>
              </a:defRPr>
            </a:pPr>
          </a:p>
        </c:txPr>
        <c:crossAx val="-2113994440"/>
        <c:crosses val="autoZero"/>
        <c:auto val="1"/>
        <c:lblAlgn val="ctr"/>
        <c:lblOffset val="100"/>
        <c:noMultiLvlLbl val="0"/>
      </c:catAx>
      <c:valAx>
        <c:axId val="-2113994440"/>
        <c:scaling>
          <c:max val="25.0"/>
          <c:min val="0.0"/>
        </c:scaling>
        <c:delete val="0"/>
        <c:axPos val="l"/>
        <c:majorGridlines/>
        <c:majorTickMark val="out"/>
        <c:minorTickMark val="none"/>
        <c:tickLblPos val="nextTo"/>
        <c:txPr>
          <a:bodyPr/>
          <a:lstStyle/>
          <a:p>
            <a:pPr>
              <a:defRPr sz="900">
                <a:solidFill>
                  <a:srgbClr val="A8B4C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32320" y="0"/>
            <a:ext cx="137160" cy="6858000"/>
          </a:xfrm>
          <a:prstGeom prst="rect">
            <a:avLst/>
          </a:prstGeom>
          <a:solidFill>
            <a:srgbClr val="091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58507" y="0"/>
            <a:ext cx="137160" cy="6858000"/>
          </a:xfrm>
          <a:prstGeom prst="rect">
            <a:avLst/>
          </a:prstGeom>
          <a:solidFill>
            <a:srgbClr val="091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84694" y="0"/>
            <a:ext cx="137160" cy="6858000"/>
          </a:xfrm>
          <a:prstGeom prst="rect">
            <a:avLst/>
          </a:prstGeom>
          <a:solidFill>
            <a:srgbClr val="091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0881" y="0"/>
            <a:ext cx="137160" cy="6858000"/>
          </a:xfrm>
          <a:prstGeom prst="rect">
            <a:avLst/>
          </a:prstGeom>
          <a:solidFill>
            <a:srgbClr val="09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37068" y="0"/>
            <a:ext cx="137160" cy="6858000"/>
          </a:xfrm>
          <a:prstGeom prst="rect">
            <a:avLst/>
          </a:prstGeom>
          <a:solidFill>
            <a:srgbClr val="0A1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63256" y="0"/>
            <a:ext cx="137160" cy="6858000"/>
          </a:xfrm>
          <a:prstGeom prst="rect">
            <a:avLst/>
          </a:prstGeom>
          <a:solidFill>
            <a:srgbClr val="0A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89443" y="0"/>
            <a:ext cx="137160" cy="6858000"/>
          </a:xfrm>
          <a:prstGeom prst="rect">
            <a:avLst/>
          </a:prstGeom>
          <a:solidFill>
            <a:srgbClr val="0A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15630" y="0"/>
            <a:ext cx="137160" cy="6858000"/>
          </a:xfrm>
          <a:prstGeom prst="rect">
            <a:avLst/>
          </a:prstGeom>
          <a:solidFill>
            <a:srgbClr val="0A1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41817" y="0"/>
            <a:ext cx="137160" cy="6858000"/>
          </a:xfrm>
          <a:prstGeom prst="rect">
            <a:avLst/>
          </a:prstGeom>
          <a:solidFill>
            <a:srgbClr val="0B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68004" y="0"/>
            <a:ext cx="137160" cy="6858000"/>
          </a:xfrm>
          <a:prstGeom prst="rect">
            <a:avLst/>
          </a:prstGeom>
          <a:solidFill>
            <a:srgbClr val="0B14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4192" y="0"/>
            <a:ext cx="137160" cy="6858000"/>
          </a:xfrm>
          <a:prstGeom prst="rect">
            <a:avLst/>
          </a:prstGeom>
          <a:solidFill>
            <a:srgbClr val="0B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20379" y="0"/>
            <a:ext cx="137160" cy="6858000"/>
          </a:xfrm>
          <a:prstGeom prst="rect">
            <a:avLst/>
          </a:prstGeom>
          <a:solidFill>
            <a:srgbClr val="0C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46566" y="0"/>
            <a:ext cx="137160" cy="6858000"/>
          </a:xfrm>
          <a:prstGeom prst="rect">
            <a:avLst/>
          </a:prstGeom>
          <a:solidFill>
            <a:srgbClr val="0C1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72753" y="0"/>
            <a:ext cx="137160" cy="6858000"/>
          </a:xfrm>
          <a:prstGeom prst="rect">
            <a:avLst/>
          </a:prstGeom>
          <a:solidFill>
            <a:srgbClr val="0C1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8940" y="0"/>
            <a:ext cx="137160" cy="6858000"/>
          </a:xfrm>
          <a:prstGeom prst="rect">
            <a:avLst/>
          </a:prstGeom>
          <a:solidFill>
            <a:srgbClr val="0C1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25128" y="0"/>
            <a:ext cx="137160" cy="6858000"/>
          </a:xfrm>
          <a:prstGeom prst="rect">
            <a:avLst/>
          </a:prstGeom>
          <a:solidFill>
            <a:srgbClr val="0D1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1315" y="0"/>
            <a:ext cx="137160" cy="6858000"/>
          </a:xfrm>
          <a:prstGeom prst="rect">
            <a:avLst/>
          </a:prstGeom>
          <a:solidFill>
            <a:srgbClr val="0D1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77502" y="0"/>
            <a:ext cx="137160" cy="6858000"/>
          </a:xfrm>
          <a:prstGeom prst="rect">
            <a:avLst/>
          </a:prstGeom>
          <a:solidFill>
            <a:srgbClr val="0D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03689" y="0"/>
            <a:ext cx="137160" cy="6858000"/>
          </a:xfrm>
          <a:prstGeom prst="rect">
            <a:avLst/>
          </a:prstGeom>
          <a:solidFill>
            <a:srgbClr val="0D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29876" y="0"/>
            <a:ext cx="137160" cy="6858000"/>
          </a:xfrm>
          <a:prstGeom prst="rect">
            <a:avLst/>
          </a:prstGeom>
          <a:solidFill>
            <a:srgbClr val="0E19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56064" y="0"/>
            <a:ext cx="137160" cy="6858000"/>
          </a:xfrm>
          <a:prstGeom prst="rect">
            <a:avLst/>
          </a:prstGeom>
          <a:solidFill>
            <a:srgbClr val="0E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82251" y="0"/>
            <a:ext cx="137160" cy="6858000"/>
          </a:xfrm>
          <a:prstGeom prst="rect">
            <a:avLst/>
          </a:prstGeom>
          <a:solidFill>
            <a:srgbClr val="0E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08438" y="0"/>
            <a:ext cx="137160" cy="6858000"/>
          </a:xfrm>
          <a:prstGeom prst="rect">
            <a:avLst/>
          </a:prstGeom>
          <a:solidFill>
            <a:srgbClr val="0F1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34625" y="0"/>
            <a:ext cx="137160" cy="6858000"/>
          </a:xfrm>
          <a:prstGeom prst="rect">
            <a:avLst/>
          </a:prstGeom>
          <a:solidFill>
            <a:srgbClr val="0F1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160812" y="0"/>
            <a:ext cx="137160" cy="6858000"/>
          </a:xfrm>
          <a:prstGeom prst="rect">
            <a:avLst/>
          </a:prstGeom>
          <a:solidFill>
            <a:srgbClr val="0F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87000" y="0"/>
            <a:ext cx="137160" cy="6858000"/>
          </a:xfrm>
          <a:prstGeom prst="rect">
            <a:avLst/>
          </a:prstGeom>
          <a:solidFill>
            <a:srgbClr val="0F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13187" y="0"/>
            <a:ext cx="137160" cy="6858000"/>
          </a:xfrm>
          <a:prstGeom prst="rect">
            <a:avLst/>
          </a:prstGeom>
          <a:solidFill>
            <a:srgbClr val="10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539374" y="0"/>
            <a:ext cx="137160" cy="6858000"/>
          </a:xfrm>
          <a:prstGeom prst="rect">
            <a:avLst/>
          </a:prstGeom>
          <a:solidFill>
            <a:srgbClr val="101C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5561" y="0"/>
            <a:ext cx="137160" cy="6858000"/>
          </a:xfrm>
          <a:prstGeom prst="rect">
            <a:avLst/>
          </a:prstGeom>
          <a:solidFill>
            <a:srgbClr val="10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791748" y="0"/>
            <a:ext cx="137160" cy="6858000"/>
          </a:xfrm>
          <a:prstGeom prst="rect">
            <a:avLst/>
          </a:prstGeom>
          <a:solidFill>
            <a:srgbClr val="101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917936" y="0"/>
            <a:ext cx="137160" cy="6858000"/>
          </a:xfrm>
          <a:prstGeom prst="rect">
            <a:avLst/>
          </a:prstGeom>
          <a:solidFill>
            <a:srgbClr val="111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044123" y="0"/>
            <a:ext cx="137160" cy="6858000"/>
          </a:xfrm>
          <a:prstGeom prst="rect">
            <a:avLst/>
          </a:prstGeom>
          <a:solidFill>
            <a:srgbClr val="11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170310" y="0"/>
            <a:ext cx="137160" cy="6858000"/>
          </a:xfrm>
          <a:prstGeom prst="rect">
            <a:avLst/>
          </a:prstGeom>
          <a:solidFill>
            <a:srgbClr val="111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296497" y="0"/>
            <a:ext cx="137160" cy="6858000"/>
          </a:xfrm>
          <a:prstGeom prst="rect">
            <a:avLst/>
          </a:prstGeom>
          <a:solidFill>
            <a:srgbClr val="12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422684" y="0"/>
            <a:ext cx="137160" cy="6858000"/>
          </a:xfrm>
          <a:prstGeom prst="rect">
            <a:avLst/>
          </a:prstGeom>
          <a:solidFill>
            <a:srgbClr val="121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548872" y="0"/>
            <a:ext cx="137160" cy="6858000"/>
          </a:xfrm>
          <a:prstGeom prst="rect">
            <a:avLst/>
          </a:prstGeom>
          <a:solidFill>
            <a:srgbClr val="121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675059" y="0"/>
            <a:ext cx="137160" cy="6858000"/>
          </a:xfrm>
          <a:prstGeom prst="rect">
            <a:avLst/>
          </a:prstGeom>
          <a:solidFill>
            <a:srgbClr val="1220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801246" y="0"/>
            <a:ext cx="137160" cy="6858000"/>
          </a:xfrm>
          <a:prstGeom prst="rect">
            <a:avLst/>
          </a:prstGeom>
          <a:solidFill>
            <a:srgbClr val="132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927433" y="0"/>
            <a:ext cx="137160" cy="6858000"/>
          </a:xfrm>
          <a:prstGeom prst="rect">
            <a:avLst/>
          </a:prstGeom>
          <a:solidFill>
            <a:srgbClr val="132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53620" y="0"/>
            <a:ext cx="137160" cy="6858000"/>
          </a:xfrm>
          <a:prstGeom prst="rect">
            <a:avLst/>
          </a:prstGeom>
          <a:solidFill>
            <a:srgbClr val="132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28431" y="0"/>
            <a:ext cx="54864"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731520"/>
            <a:ext cx="3200400" cy="3200400"/>
          </a:xfrm>
          <a:prstGeom prst="roundRect">
            <a:avLst>
              <a:gd name="adj" fmla="val 8000"/>
            </a:avLst>
          </a:prstGeom>
          <a:solidFill>
            <a:srgbClr val="1A2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1234440"/>
            <a:ext cx="7223760" cy="1143000"/>
          </a:xfrm>
          <a:prstGeom prst="rect">
            <a:avLst/>
          </a:prstGeom>
          <a:noFill/>
        </p:spPr>
        <p:txBody>
          <a:bodyPr wrap="square">
            <a:spAutoFit/>
          </a:bodyPr>
          <a:lstStyle/>
          <a:p>
            <a:pPr algn="l"/>
            <a:r>
              <a:rPr sz="5800" b="1" i="0">
                <a:solidFill>
                  <a:srgbClr val="FFFFFF"/>
                </a:solidFill>
                <a:latin typeface="Segoe UI Semibold"/>
              </a:rPr>
              <a:t>BioResearch OS</a:t>
            </a:r>
          </a:p>
        </p:txBody>
      </p:sp>
      <p:sp>
        <p:nvSpPr>
          <p:cNvPr id="47" name="Rectangle 46"/>
          <p:cNvSpPr/>
          <p:nvPr/>
        </p:nvSpPr>
        <p:spPr>
          <a:xfrm>
            <a:off x="594360" y="2423160"/>
            <a:ext cx="256032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578608"/>
            <a:ext cx="7223760" cy="804672"/>
          </a:xfrm>
          <a:prstGeom prst="rect">
            <a:avLst/>
          </a:prstGeom>
          <a:noFill/>
        </p:spPr>
        <p:txBody>
          <a:bodyPr wrap="square">
            <a:spAutoFit/>
          </a:bodyPr>
          <a:lstStyle/>
          <a:p>
            <a:pPr algn="l"/>
            <a:r>
              <a:rPr sz="1700" b="0" i="0">
                <a:solidFill>
                  <a:srgbClr val="A8B4CF"/>
                </a:solidFill>
                <a:latin typeface="Segoe UI"/>
              </a:rPr>
              <a:t>Self-Reflective Retrieval-Augmented Generation
for Biomedical Research</a:t>
            </a:r>
          </a:p>
        </p:txBody>
      </p:sp>
      <p:sp>
        <p:nvSpPr>
          <p:cNvPr id="49" name="Rectangle 48"/>
          <p:cNvSpPr/>
          <p:nvPr/>
        </p:nvSpPr>
        <p:spPr>
          <a:xfrm>
            <a:off x="594360" y="3566160"/>
            <a:ext cx="1248156" cy="292608"/>
          </a:xfrm>
          <a:prstGeom prst="roundRect">
            <a:avLst>
              <a:gd name="adj" fmla="val 8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 y="3602736"/>
            <a:ext cx="1028700" cy="228600"/>
          </a:xfrm>
          <a:prstGeom prst="rect">
            <a:avLst/>
          </a:prstGeom>
          <a:noFill/>
        </p:spPr>
        <p:txBody>
          <a:bodyPr wrap="square">
            <a:spAutoFit/>
          </a:bodyPr>
          <a:lstStyle/>
          <a:p>
            <a:pPr algn="l"/>
            <a:r>
              <a:rPr sz="900" b="1" i="0">
                <a:solidFill>
                  <a:srgbClr val="FFFFFF"/>
                </a:solidFill>
                <a:latin typeface="Segoe UI"/>
              </a:rPr>
              <a:t>ICLR 2024</a:t>
            </a:r>
          </a:p>
        </p:txBody>
      </p:sp>
      <p:sp>
        <p:nvSpPr>
          <p:cNvPr id="51" name="Rectangle 50"/>
          <p:cNvSpPr/>
          <p:nvPr/>
        </p:nvSpPr>
        <p:spPr>
          <a:xfrm>
            <a:off x="1970532" y="3566160"/>
            <a:ext cx="1152144" cy="292608"/>
          </a:xfrm>
          <a:prstGeom prst="roundRect">
            <a:avLst>
              <a:gd name="adj" fmla="val 8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80260" y="3602736"/>
            <a:ext cx="932688" cy="228600"/>
          </a:xfrm>
          <a:prstGeom prst="rect">
            <a:avLst/>
          </a:prstGeom>
          <a:noFill/>
        </p:spPr>
        <p:txBody>
          <a:bodyPr wrap="square">
            <a:spAutoFit/>
          </a:bodyPr>
          <a:lstStyle/>
          <a:p>
            <a:pPr algn="l"/>
            <a:r>
              <a:rPr sz="900" b="1" i="0">
                <a:solidFill>
                  <a:srgbClr val="FFFFFF"/>
                </a:solidFill>
                <a:latin typeface="Segoe UI"/>
              </a:rPr>
              <a:t>PubMedQA</a:t>
            </a:r>
          </a:p>
        </p:txBody>
      </p:sp>
      <p:sp>
        <p:nvSpPr>
          <p:cNvPr id="53" name="Rectangle 52"/>
          <p:cNvSpPr/>
          <p:nvPr/>
        </p:nvSpPr>
        <p:spPr>
          <a:xfrm>
            <a:off x="3250692" y="3566160"/>
            <a:ext cx="1152144" cy="292608"/>
          </a:xfrm>
          <a:prstGeom prst="roundRect">
            <a:avLst>
              <a:gd name="adj" fmla="val 8000"/>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0420" y="3602736"/>
            <a:ext cx="932688" cy="228600"/>
          </a:xfrm>
          <a:prstGeom prst="rect">
            <a:avLst/>
          </a:prstGeom>
          <a:noFill/>
        </p:spPr>
        <p:txBody>
          <a:bodyPr wrap="square">
            <a:spAutoFit/>
          </a:bodyPr>
          <a:lstStyle/>
          <a:p>
            <a:pPr algn="l"/>
            <a:r>
              <a:rPr sz="900" b="1" i="0">
                <a:solidFill>
                  <a:srgbClr val="FFFFFF"/>
                </a:solidFill>
                <a:latin typeface="Segoe UI"/>
              </a:rPr>
              <a:t>Self-RAG</a:t>
            </a:r>
          </a:p>
        </p:txBody>
      </p:sp>
      <p:sp>
        <p:nvSpPr>
          <p:cNvPr id="55" name="Rectangle 54"/>
          <p:cNvSpPr/>
          <p:nvPr/>
        </p:nvSpPr>
        <p:spPr>
          <a:xfrm>
            <a:off x="4530852" y="3566160"/>
            <a:ext cx="1344168" cy="292608"/>
          </a:xfrm>
          <a:prstGeom prst="roundRect">
            <a:avLst>
              <a:gd name="adj" fmla="val 8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40580" y="3602736"/>
            <a:ext cx="1124712" cy="228600"/>
          </a:xfrm>
          <a:prstGeom prst="rect">
            <a:avLst/>
          </a:prstGeom>
          <a:noFill/>
        </p:spPr>
        <p:txBody>
          <a:bodyPr wrap="square">
            <a:spAutoFit/>
          </a:bodyPr>
          <a:lstStyle/>
          <a:p>
            <a:pPr algn="l"/>
            <a:r>
              <a:rPr sz="900" b="1" i="0">
                <a:solidFill>
                  <a:srgbClr val="FFFFFF"/>
                </a:solidFill>
                <a:latin typeface="Segoe UI"/>
              </a:rPr>
              <a:t>Next.js 15</a:t>
            </a:r>
          </a:p>
        </p:txBody>
      </p:sp>
      <p:sp>
        <p:nvSpPr>
          <p:cNvPr id="57" name="Rectangle 56"/>
          <p:cNvSpPr/>
          <p:nvPr/>
        </p:nvSpPr>
        <p:spPr>
          <a:xfrm>
            <a:off x="6003036" y="3566160"/>
            <a:ext cx="960120" cy="292608"/>
          </a:xfrm>
          <a:prstGeom prst="roundRect">
            <a:avLst>
              <a:gd name="adj" fmla="val 8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12764" y="3602736"/>
            <a:ext cx="740664" cy="228600"/>
          </a:xfrm>
          <a:prstGeom prst="rect">
            <a:avLst/>
          </a:prstGeom>
          <a:noFill/>
        </p:spPr>
        <p:txBody>
          <a:bodyPr wrap="square">
            <a:spAutoFit/>
          </a:bodyPr>
          <a:lstStyle/>
          <a:p>
            <a:pPr algn="l"/>
            <a:r>
              <a:rPr sz="900" b="1" i="0">
                <a:solidFill>
                  <a:srgbClr val="FFFFFF"/>
                </a:solidFill>
                <a:latin typeface="Segoe UI"/>
              </a:rPr>
              <a:t>Python</a:t>
            </a:r>
          </a:p>
        </p:txBody>
      </p:sp>
      <p:sp>
        <p:nvSpPr>
          <p:cNvPr id="59" name="TextBox 58"/>
          <p:cNvSpPr txBox="1"/>
          <p:nvPr/>
        </p:nvSpPr>
        <p:spPr>
          <a:xfrm>
            <a:off x="594360" y="4114800"/>
            <a:ext cx="7223760" cy="320040"/>
          </a:xfrm>
          <a:prstGeom prst="rect">
            <a:avLst/>
          </a:prstGeom>
          <a:noFill/>
        </p:spPr>
        <p:txBody>
          <a:bodyPr wrap="square">
            <a:spAutoFit/>
          </a:bodyPr>
          <a:lstStyle/>
          <a:p>
            <a:pPr algn="l"/>
            <a:r>
              <a:rPr sz="1100" b="0" i="0">
                <a:solidFill>
                  <a:srgbClr val="556688"/>
                </a:solidFill>
                <a:latin typeface="Segoe UI"/>
              </a:rPr>
              <a:t>Final Year Software Engineering Project  |  2025 - 2026</a:t>
            </a:r>
          </a:p>
        </p:txBody>
      </p:sp>
      <p:sp>
        <p:nvSpPr>
          <p:cNvPr id="60" name="Rectangle 59"/>
          <p:cNvSpPr/>
          <p:nvPr/>
        </p:nvSpPr>
        <p:spPr>
          <a:xfrm>
            <a:off x="8275320" y="1463040"/>
            <a:ext cx="3611880" cy="91440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275320" y="1463040"/>
            <a:ext cx="54864" cy="914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85632" y="1572768"/>
            <a:ext cx="3291840" cy="365760"/>
          </a:xfrm>
          <a:prstGeom prst="rect">
            <a:avLst/>
          </a:prstGeom>
          <a:noFill/>
        </p:spPr>
        <p:txBody>
          <a:bodyPr wrap="square">
            <a:spAutoFit/>
          </a:bodyPr>
          <a:lstStyle/>
          <a:p>
            <a:pPr algn="l"/>
            <a:r>
              <a:rPr sz="1300" b="1" i="0">
                <a:solidFill>
                  <a:srgbClr val="FFFFFF"/>
                </a:solidFill>
                <a:latin typeface="Segoe UI"/>
              </a:rPr>
              <a:t>Bala Muhammad Abubakar</a:t>
            </a:r>
          </a:p>
        </p:txBody>
      </p:sp>
      <p:sp>
        <p:nvSpPr>
          <p:cNvPr id="63" name="TextBox 62"/>
          <p:cNvSpPr txBox="1"/>
          <p:nvPr/>
        </p:nvSpPr>
        <p:spPr>
          <a:xfrm>
            <a:off x="8485632" y="1938528"/>
            <a:ext cx="3291840" cy="292608"/>
          </a:xfrm>
          <a:prstGeom prst="rect">
            <a:avLst/>
          </a:prstGeom>
          <a:noFill/>
        </p:spPr>
        <p:txBody>
          <a:bodyPr wrap="square">
            <a:spAutoFit/>
          </a:bodyPr>
          <a:lstStyle/>
          <a:p>
            <a:pPr algn="l"/>
            <a:r>
              <a:rPr sz="950" b="0" i="0">
                <a:solidFill>
                  <a:srgbClr val="A8B4CF"/>
                </a:solidFill>
                <a:latin typeface="Segoe UI"/>
              </a:rPr>
              <a:t>Student ID: 312023705021</a:t>
            </a:r>
          </a:p>
        </p:txBody>
      </p:sp>
      <p:sp>
        <p:nvSpPr>
          <p:cNvPr id="64" name="Rectangle 63"/>
          <p:cNvSpPr/>
          <p:nvPr/>
        </p:nvSpPr>
        <p:spPr>
          <a:xfrm>
            <a:off x="8275320" y="2697480"/>
            <a:ext cx="3611880" cy="91440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275320" y="2697480"/>
            <a:ext cx="54864" cy="9144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85632" y="2807208"/>
            <a:ext cx="3291840" cy="365760"/>
          </a:xfrm>
          <a:prstGeom prst="rect">
            <a:avLst/>
          </a:prstGeom>
          <a:noFill/>
        </p:spPr>
        <p:txBody>
          <a:bodyPr wrap="square">
            <a:spAutoFit/>
          </a:bodyPr>
          <a:lstStyle/>
          <a:p>
            <a:pPr algn="l"/>
            <a:r>
              <a:rPr sz="1300" b="1" i="0">
                <a:solidFill>
                  <a:srgbClr val="FFFFFF"/>
                </a:solidFill>
                <a:latin typeface="Segoe UI"/>
              </a:rPr>
              <a:t>Chukwu John Okike</a:t>
            </a:r>
          </a:p>
        </p:txBody>
      </p:sp>
      <p:sp>
        <p:nvSpPr>
          <p:cNvPr id="67" name="TextBox 66"/>
          <p:cNvSpPr txBox="1"/>
          <p:nvPr/>
        </p:nvSpPr>
        <p:spPr>
          <a:xfrm>
            <a:off x="8485632" y="3172968"/>
            <a:ext cx="3291840" cy="292608"/>
          </a:xfrm>
          <a:prstGeom prst="rect">
            <a:avLst/>
          </a:prstGeom>
          <a:noFill/>
        </p:spPr>
        <p:txBody>
          <a:bodyPr wrap="square">
            <a:spAutoFit/>
          </a:bodyPr>
          <a:lstStyle/>
          <a:p>
            <a:pPr algn="l"/>
            <a:r>
              <a:rPr sz="950" b="0" i="0">
                <a:solidFill>
                  <a:srgbClr val="A8B4CF"/>
                </a:solidFill>
                <a:latin typeface="Segoe UI"/>
              </a:rPr>
              <a:t>Student ID: 312023704038</a:t>
            </a:r>
          </a:p>
        </p:txBody>
      </p:sp>
      <p:sp>
        <p:nvSpPr>
          <p:cNvPr id="68" name="Rectangle 67"/>
          <p:cNvSpPr/>
          <p:nvPr/>
        </p:nvSpPr>
        <p:spPr>
          <a:xfrm>
            <a:off x="8275320" y="3840480"/>
            <a:ext cx="3611880" cy="804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275320" y="3840480"/>
            <a:ext cx="54864" cy="8046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85632" y="3931920"/>
            <a:ext cx="3291840" cy="256032"/>
          </a:xfrm>
          <a:prstGeom prst="rect">
            <a:avLst/>
          </a:prstGeom>
          <a:noFill/>
        </p:spPr>
        <p:txBody>
          <a:bodyPr wrap="square">
            <a:spAutoFit/>
          </a:bodyPr>
          <a:lstStyle/>
          <a:p>
            <a:pPr algn="l"/>
            <a:r>
              <a:rPr sz="900" b="0" i="0">
                <a:solidFill>
                  <a:srgbClr val="556688"/>
                </a:solidFill>
                <a:latin typeface="Segoe UI"/>
              </a:rPr>
              <a:t>Supervisor</a:t>
            </a:r>
          </a:p>
        </p:txBody>
      </p:sp>
      <p:sp>
        <p:nvSpPr>
          <p:cNvPr id="71" name="TextBox 70"/>
          <p:cNvSpPr txBox="1"/>
          <p:nvPr/>
        </p:nvSpPr>
        <p:spPr>
          <a:xfrm>
            <a:off x="8485632" y="4187952"/>
            <a:ext cx="3291840" cy="347472"/>
          </a:xfrm>
          <a:prstGeom prst="rect">
            <a:avLst/>
          </a:prstGeom>
          <a:noFill/>
        </p:spPr>
        <p:txBody>
          <a:bodyPr wrap="square">
            <a:spAutoFit/>
          </a:bodyPr>
          <a:lstStyle/>
          <a:p>
            <a:pPr algn="l"/>
            <a:r>
              <a:rPr sz="1400" b="1" i="0">
                <a:solidFill>
                  <a:srgbClr val="10B981"/>
                </a:solidFill>
                <a:latin typeface="Segoe UI"/>
              </a:rPr>
              <a:t>Yuchen Zhang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Presentation Agenda</a:t>
            </a:r>
          </a:p>
        </p:txBody>
      </p:sp>
      <p:sp>
        <p:nvSpPr>
          <p:cNvPr id="5" name="Rectangle 4"/>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7" name="TextBox 6"/>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8" name="Rectangle 7"/>
          <p:cNvSpPr/>
          <p:nvPr/>
        </p:nvSpPr>
        <p:spPr>
          <a:xfrm>
            <a:off x="502920" y="1417320"/>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45720" cy="5303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508760"/>
            <a:ext cx="347472" cy="347472"/>
          </a:xfrm>
          <a:prstGeom prst="rect">
            <a:avLst/>
          </a:prstGeom>
          <a:noFill/>
        </p:spPr>
        <p:txBody>
          <a:bodyPr wrap="square">
            <a:spAutoFit/>
          </a:bodyPr>
          <a:lstStyle/>
          <a:p>
            <a:pPr algn="l"/>
            <a:r>
              <a:rPr sz="1000" b="1" i="0">
                <a:solidFill>
                  <a:srgbClr val="F43F5E"/>
                </a:solidFill>
                <a:latin typeface="Segoe UI"/>
              </a:rPr>
              <a:t>01</a:t>
            </a:r>
          </a:p>
        </p:txBody>
      </p:sp>
      <p:sp>
        <p:nvSpPr>
          <p:cNvPr id="11" name="TextBox 10"/>
          <p:cNvSpPr txBox="1"/>
          <p:nvPr/>
        </p:nvSpPr>
        <p:spPr>
          <a:xfrm>
            <a:off x="1097280" y="1472184"/>
            <a:ext cx="3291840" cy="274320"/>
          </a:xfrm>
          <a:prstGeom prst="rect">
            <a:avLst/>
          </a:prstGeom>
          <a:noFill/>
        </p:spPr>
        <p:txBody>
          <a:bodyPr wrap="square">
            <a:spAutoFit/>
          </a:bodyPr>
          <a:lstStyle/>
          <a:p>
            <a:pPr algn="l"/>
            <a:r>
              <a:rPr sz="1300" b="1" i="0">
                <a:solidFill>
                  <a:srgbClr val="FFFFFF"/>
                </a:solidFill>
                <a:latin typeface="Segoe UI"/>
              </a:rPr>
              <a:t>The Problem</a:t>
            </a:r>
          </a:p>
        </p:txBody>
      </p:sp>
      <p:sp>
        <p:nvSpPr>
          <p:cNvPr id="12" name="TextBox 11"/>
          <p:cNvSpPr txBox="1"/>
          <p:nvPr/>
        </p:nvSpPr>
        <p:spPr>
          <a:xfrm>
            <a:off x="1097280" y="1709928"/>
            <a:ext cx="4663440" cy="201168"/>
          </a:xfrm>
          <a:prstGeom prst="rect">
            <a:avLst/>
          </a:prstGeom>
          <a:noFill/>
        </p:spPr>
        <p:txBody>
          <a:bodyPr wrap="square">
            <a:spAutoFit/>
          </a:bodyPr>
          <a:lstStyle/>
          <a:p>
            <a:pPr algn="l"/>
            <a:r>
              <a:rPr sz="900" b="0" i="0">
                <a:solidFill>
                  <a:srgbClr val="556688"/>
                </a:solidFill>
                <a:latin typeface="Segoe UI"/>
              </a:rPr>
              <a:t>Why existing tools fail biomedical researchers</a:t>
            </a:r>
          </a:p>
        </p:txBody>
      </p:sp>
      <p:sp>
        <p:nvSpPr>
          <p:cNvPr id="13" name="Rectangle 12"/>
          <p:cNvSpPr/>
          <p:nvPr/>
        </p:nvSpPr>
        <p:spPr>
          <a:xfrm>
            <a:off x="6373368" y="1417320"/>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73368" y="1417320"/>
            <a:ext cx="45720" cy="5303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508760"/>
            <a:ext cx="347472" cy="347472"/>
          </a:xfrm>
          <a:prstGeom prst="rect">
            <a:avLst/>
          </a:prstGeom>
          <a:noFill/>
        </p:spPr>
        <p:txBody>
          <a:bodyPr wrap="square">
            <a:spAutoFit/>
          </a:bodyPr>
          <a:lstStyle/>
          <a:p>
            <a:pPr algn="l"/>
            <a:r>
              <a:rPr sz="1000" b="1" i="0">
                <a:solidFill>
                  <a:srgbClr val="4F46E5"/>
                </a:solidFill>
                <a:latin typeface="Segoe UI"/>
              </a:rPr>
              <a:t>02</a:t>
            </a:r>
          </a:p>
        </p:txBody>
      </p:sp>
      <p:sp>
        <p:nvSpPr>
          <p:cNvPr id="16" name="TextBox 15"/>
          <p:cNvSpPr txBox="1"/>
          <p:nvPr/>
        </p:nvSpPr>
        <p:spPr>
          <a:xfrm>
            <a:off x="6967728" y="1472184"/>
            <a:ext cx="3291840" cy="274320"/>
          </a:xfrm>
          <a:prstGeom prst="rect">
            <a:avLst/>
          </a:prstGeom>
          <a:noFill/>
        </p:spPr>
        <p:txBody>
          <a:bodyPr wrap="square">
            <a:spAutoFit/>
          </a:bodyPr>
          <a:lstStyle/>
          <a:p>
            <a:pPr algn="l"/>
            <a:r>
              <a:rPr sz="1300" b="1" i="0">
                <a:solidFill>
                  <a:srgbClr val="FFFFFF"/>
                </a:solidFill>
                <a:latin typeface="Segoe UI"/>
              </a:rPr>
              <a:t>Solution Overview</a:t>
            </a:r>
          </a:p>
        </p:txBody>
      </p:sp>
      <p:sp>
        <p:nvSpPr>
          <p:cNvPr id="17" name="TextBox 16"/>
          <p:cNvSpPr txBox="1"/>
          <p:nvPr/>
        </p:nvSpPr>
        <p:spPr>
          <a:xfrm>
            <a:off x="6967728" y="1709928"/>
            <a:ext cx="4663440" cy="201168"/>
          </a:xfrm>
          <a:prstGeom prst="rect">
            <a:avLst/>
          </a:prstGeom>
          <a:noFill/>
        </p:spPr>
        <p:txBody>
          <a:bodyPr wrap="square">
            <a:spAutoFit/>
          </a:bodyPr>
          <a:lstStyle/>
          <a:p>
            <a:pPr algn="l"/>
            <a:r>
              <a:rPr sz="900" b="0" i="0">
                <a:solidFill>
                  <a:srgbClr val="556688"/>
                </a:solidFill>
                <a:latin typeface="Segoe UI"/>
              </a:rPr>
              <a:t>BioResearch OS -- three integrated layers</a:t>
            </a:r>
          </a:p>
        </p:txBody>
      </p:sp>
      <p:sp>
        <p:nvSpPr>
          <p:cNvPr id="18" name="Rectangle 17"/>
          <p:cNvSpPr/>
          <p:nvPr/>
        </p:nvSpPr>
        <p:spPr>
          <a:xfrm>
            <a:off x="502920" y="2039112"/>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039112"/>
            <a:ext cx="45720" cy="5303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2130552"/>
            <a:ext cx="347472" cy="347472"/>
          </a:xfrm>
          <a:prstGeom prst="rect">
            <a:avLst/>
          </a:prstGeom>
          <a:noFill/>
        </p:spPr>
        <p:txBody>
          <a:bodyPr wrap="square">
            <a:spAutoFit/>
          </a:bodyPr>
          <a:lstStyle/>
          <a:p>
            <a:pPr algn="l"/>
            <a:r>
              <a:rPr sz="1000" b="1" i="0">
                <a:solidFill>
                  <a:srgbClr val="4F46E5"/>
                </a:solidFill>
                <a:latin typeface="Segoe UI"/>
              </a:rPr>
              <a:t>03</a:t>
            </a:r>
          </a:p>
        </p:txBody>
      </p:sp>
      <p:sp>
        <p:nvSpPr>
          <p:cNvPr id="21" name="TextBox 20"/>
          <p:cNvSpPr txBox="1"/>
          <p:nvPr/>
        </p:nvSpPr>
        <p:spPr>
          <a:xfrm>
            <a:off x="1097280" y="2093976"/>
            <a:ext cx="3291840" cy="274320"/>
          </a:xfrm>
          <a:prstGeom prst="rect">
            <a:avLst/>
          </a:prstGeom>
          <a:noFill/>
        </p:spPr>
        <p:txBody>
          <a:bodyPr wrap="square">
            <a:spAutoFit/>
          </a:bodyPr>
          <a:lstStyle/>
          <a:p>
            <a:pPr algn="l"/>
            <a:r>
              <a:rPr sz="1300" b="1" i="0">
                <a:solidFill>
                  <a:srgbClr val="FFFFFF"/>
                </a:solidFill>
                <a:latin typeface="Segoe UI"/>
              </a:rPr>
              <a:t>Self-RAG Mechanism</a:t>
            </a:r>
          </a:p>
        </p:txBody>
      </p:sp>
      <p:sp>
        <p:nvSpPr>
          <p:cNvPr id="22" name="TextBox 21"/>
          <p:cNvSpPr txBox="1"/>
          <p:nvPr/>
        </p:nvSpPr>
        <p:spPr>
          <a:xfrm>
            <a:off x="1097280" y="2331720"/>
            <a:ext cx="4663440" cy="201168"/>
          </a:xfrm>
          <a:prstGeom prst="rect">
            <a:avLst/>
          </a:prstGeom>
          <a:noFill/>
        </p:spPr>
        <p:txBody>
          <a:bodyPr wrap="square">
            <a:spAutoFit/>
          </a:bodyPr>
          <a:lstStyle/>
          <a:p>
            <a:pPr algn="l"/>
            <a:r>
              <a:rPr sz="900" b="0" i="0">
                <a:solidFill>
                  <a:srgbClr val="556688"/>
                </a:solidFill>
                <a:latin typeface="Segoe UI"/>
              </a:rPr>
              <a:t>Adaptive retrieval via reflection tokens</a:t>
            </a:r>
          </a:p>
        </p:txBody>
      </p:sp>
      <p:sp>
        <p:nvSpPr>
          <p:cNvPr id="23" name="Rectangle 22"/>
          <p:cNvSpPr/>
          <p:nvPr/>
        </p:nvSpPr>
        <p:spPr>
          <a:xfrm>
            <a:off x="6373368" y="2039112"/>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73368" y="2039112"/>
            <a:ext cx="45720" cy="5303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130552"/>
            <a:ext cx="347472" cy="347472"/>
          </a:xfrm>
          <a:prstGeom prst="rect">
            <a:avLst/>
          </a:prstGeom>
          <a:noFill/>
        </p:spPr>
        <p:txBody>
          <a:bodyPr wrap="square">
            <a:spAutoFit/>
          </a:bodyPr>
          <a:lstStyle/>
          <a:p>
            <a:pPr algn="l"/>
            <a:r>
              <a:rPr sz="1000" b="1" i="0">
                <a:solidFill>
                  <a:srgbClr val="06B6D4"/>
                </a:solidFill>
                <a:latin typeface="Segoe UI"/>
              </a:rPr>
              <a:t>04</a:t>
            </a:r>
          </a:p>
        </p:txBody>
      </p:sp>
      <p:sp>
        <p:nvSpPr>
          <p:cNvPr id="26" name="TextBox 25"/>
          <p:cNvSpPr txBox="1"/>
          <p:nvPr/>
        </p:nvSpPr>
        <p:spPr>
          <a:xfrm>
            <a:off x="6967728" y="2093976"/>
            <a:ext cx="3291840" cy="274320"/>
          </a:xfrm>
          <a:prstGeom prst="rect">
            <a:avLst/>
          </a:prstGeom>
          <a:noFill/>
        </p:spPr>
        <p:txBody>
          <a:bodyPr wrap="square">
            <a:spAutoFit/>
          </a:bodyPr>
          <a:lstStyle/>
          <a:p>
            <a:pPr algn="l"/>
            <a:r>
              <a:rPr sz="1300" b="1" i="0">
                <a:solidFill>
                  <a:srgbClr val="FFFFFF"/>
                </a:solidFill>
                <a:latin typeface="Segoe UI"/>
              </a:rPr>
              <a:t>Hybrid Retrieval</a:t>
            </a:r>
          </a:p>
        </p:txBody>
      </p:sp>
      <p:sp>
        <p:nvSpPr>
          <p:cNvPr id="27" name="TextBox 26"/>
          <p:cNvSpPr txBox="1"/>
          <p:nvPr/>
        </p:nvSpPr>
        <p:spPr>
          <a:xfrm>
            <a:off x="6967728" y="2331720"/>
            <a:ext cx="4663440" cy="201168"/>
          </a:xfrm>
          <a:prstGeom prst="rect">
            <a:avLst/>
          </a:prstGeom>
          <a:noFill/>
        </p:spPr>
        <p:txBody>
          <a:bodyPr wrap="square">
            <a:spAutoFit/>
          </a:bodyPr>
          <a:lstStyle/>
          <a:p>
            <a:pPr algn="l"/>
            <a:r>
              <a:rPr sz="900" b="0" i="0">
                <a:solidFill>
                  <a:srgbClr val="556688"/>
                </a:solidFill>
                <a:latin typeface="Segoe UI"/>
              </a:rPr>
              <a:t>BM25 + Blake2b dense fusion, CPU-only</a:t>
            </a:r>
          </a:p>
        </p:txBody>
      </p:sp>
      <p:sp>
        <p:nvSpPr>
          <p:cNvPr id="28" name="Rectangle 27"/>
          <p:cNvSpPr/>
          <p:nvPr/>
        </p:nvSpPr>
        <p:spPr>
          <a:xfrm>
            <a:off x="502920" y="2660904"/>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2660904"/>
            <a:ext cx="45720" cy="5303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2752344"/>
            <a:ext cx="347472" cy="347472"/>
          </a:xfrm>
          <a:prstGeom prst="rect">
            <a:avLst/>
          </a:prstGeom>
          <a:noFill/>
        </p:spPr>
        <p:txBody>
          <a:bodyPr wrap="square">
            <a:spAutoFit/>
          </a:bodyPr>
          <a:lstStyle/>
          <a:p>
            <a:pPr algn="l"/>
            <a:r>
              <a:rPr sz="1000" b="1" i="0">
                <a:solidFill>
                  <a:srgbClr val="F59E0B"/>
                </a:solidFill>
                <a:latin typeface="Segoe UI"/>
              </a:rPr>
              <a:t>05</a:t>
            </a:r>
          </a:p>
        </p:txBody>
      </p:sp>
      <p:sp>
        <p:nvSpPr>
          <p:cNvPr id="31" name="TextBox 30"/>
          <p:cNvSpPr txBox="1"/>
          <p:nvPr/>
        </p:nvSpPr>
        <p:spPr>
          <a:xfrm>
            <a:off x="1097280" y="2715768"/>
            <a:ext cx="3291840" cy="274320"/>
          </a:xfrm>
          <a:prstGeom prst="rect">
            <a:avLst/>
          </a:prstGeom>
          <a:noFill/>
        </p:spPr>
        <p:txBody>
          <a:bodyPr wrap="square">
            <a:spAutoFit/>
          </a:bodyPr>
          <a:lstStyle/>
          <a:p>
            <a:pPr algn="l"/>
            <a:r>
              <a:rPr sz="1300" b="1" i="0">
                <a:solidFill>
                  <a:srgbClr val="FFFFFF"/>
                </a:solidFill>
                <a:latin typeface="Segoe UI"/>
              </a:rPr>
              <a:t>System Architecture</a:t>
            </a:r>
          </a:p>
        </p:txBody>
      </p:sp>
      <p:sp>
        <p:nvSpPr>
          <p:cNvPr id="32" name="TextBox 31"/>
          <p:cNvSpPr txBox="1"/>
          <p:nvPr/>
        </p:nvSpPr>
        <p:spPr>
          <a:xfrm>
            <a:off x="1097280" y="2953512"/>
            <a:ext cx="4663440" cy="201168"/>
          </a:xfrm>
          <a:prstGeom prst="rect">
            <a:avLst/>
          </a:prstGeom>
          <a:noFill/>
        </p:spPr>
        <p:txBody>
          <a:bodyPr wrap="square">
            <a:spAutoFit/>
          </a:bodyPr>
          <a:lstStyle/>
          <a:p>
            <a:pPr algn="l"/>
            <a:r>
              <a:rPr sz="900" b="0" i="0">
                <a:solidFill>
                  <a:srgbClr val="556688"/>
                </a:solidFill>
                <a:latin typeface="Segoe UI"/>
              </a:rPr>
              <a:t>4-layer hexagonal design</a:t>
            </a:r>
          </a:p>
        </p:txBody>
      </p:sp>
      <p:sp>
        <p:nvSpPr>
          <p:cNvPr id="33" name="Rectangle 32"/>
          <p:cNvSpPr/>
          <p:nvPr/>
        </p:nvSpPr>
        <p:spPr>
          <a:xfrm>
            <a:off x="6373368" y="2660904"/>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73368" y="2660904"/>
            <a:ext cx="45720" cy="5303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2752344"/>
            <a:ext cx="347472" cy="347472"/>
          </a:xfrm>
          <a:prstGeom prst="rect">
            <a:avLst/>
          </a:prstGeom>
          <a:noFill/>
        </p:spPr>
        <p:txBody>
          <a:bodyPr wrap="square">
            <a:spAutoFit/>
          </a:bodyPr>
          <a:lstStyle/>
          <a:p>
            <a:pPr algn="l"/>
            <a:r>
              <a:rPr sz="1000" b="1" i="0">
                <a:solidFill>
                  <a:srgbClr val="10B981"/>
                </a:solidFill>
                <a:latin typeface="Segoe UI"/>
              </a:rPr>
              <a:t>06</a:t>
            </a:r>
          </a:p>
        </p:txBody>
      </p:sp>
      <p:sp>
        <p:nvSpPr>
          <p:cNvPr id="36" name="TextBox 35"/>
          <p:cNvSpPr txBox="1"/>
          <p:nvPr/>
        </p:nvSpPr>
        <p:spPr>
          <a:xfrm>
            <a:off x="6967728" y="2715768"/>
            <a:ext cx="3291840" cy="274320"/>
          </a:xfrm>
          <a:prstGeom prst="rect">
            <a:avLst/>
          </a:prstGeom>
          <a:noFill/>
        </p:spPr>
        <p:txBody>
          <a:bodyPr wrap="square">
            <a:spAutoFit/>
          </a:bodyPr>
          <a:lstStyle/>
          <a:p>
            <a:pPr algn="l"/>
            <a:r>
              <a:rPr sz="1300" b="1" i="0">
                <a:solidFill>
                  <a:srgbClr val="FFFFFF"/>
                </a:solidFill>
                <a:latin typeface="Segoe UI"/>
              </a:rPr>
              <a:t>Platform &amp; Demo</a:t>
            </a:r>
          </a:p>
        </p:txBody>
      </p:sp>
      <p:sp>
        <p:nvSpPr>
          <p:cNvPr id="37" name="TextBox 36"/>
          <p:cNvSpPr txBox="1"/>
          <p:nvPr/>
        </p:nvSpPr>
        <p:spPr>
          <a:xfrm>
            <a:off x="6967728" y="2953512"/>
            <a:ext cx="4663440" cy="201168"/>
          </a:xfrm>
          <a:prstGeom prst="rect">
            <a:avLst/>
          </a:prstGeom>
          <a:noFill/>
        </p:spPr>
        <p:txBody>
          <a:bodyPr wrap="square">
            <a:spAutoFit/>
          </a:bodyPr>
          <a:lstStyle/>
          <a:p>
            <a:pPr algn="l"/>
            <a:r>
              <a:rPr sz="900" b="0" i="0">
                <a:solidFill>
                  <a:srgbClr val="556688"/>
                </a:solidFill>
                <a:latin typeface="Segoe UI"/>
              </a:rPr>
              <a:t>Next.js 15 enterprise workspace + screenshots</a:t>
            </a:r>
          </a:p>
        </p:txBody>
      </p:sp>
      <p:sp>
        <p:nvSpPr>
          <p:cNvPr id="38" name="Rectangle 37"/>
          <p:cNvSpPr/>
          <p:nvPr/>
        </p:nvSpPr>
        <p:spPr>
          <a:xfrm>
            <a:off x="502920" y="3282696"/>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3282696"/>
            <a:ext cx="45720" cy="5303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7512" y="3374136"/>
            <a:ext cx="347472" cy="347472"/>
          </a:xfrm>
          <a:prstGeom prst="rect">
            <a:avLst/>
          </a:prstGeom>
          <a:noFill/>
        </p:spPr>
        <p:txBody>
          <a:bodyPr wrap="square">
            <a:spAutoFit/>
          </a:bodyPr>
          <a:lstStyle/>
          <a:p>
            <a:pPr algn="l"/>
            <a:r>
              <a:rPr sz="1000" b="1" i="0">
                <a:solidFill>
                  <a:srgbClr val="8B5CF6"/>
                </a:solidFill>
                <a:latin typeface="Segoe UI"/>
              </a:rPr>
              <a:t>07</a:t>
            </a:r>
          </a:p>
        </p:txBody>
      </p:sp>
      <p:sp>
        <p:nvSpPr>
          <p:cNvPr id="41" name="TextBox 40"/>
          <p:cNvSpPr txBox="1"/>
          <p:nvPr/>
        </p:nvSpPr>
        <p:spPr>
          <a:xfrm>
            <a:off x="1097280" y="3337560"/>
            <a:ext cx="3291840" cy="274320"/>
          </a:xfrm>
          <a:prstGeom prst="rect">
            <a:avLst/>
          </a:prstGeom>
          <a:noFill/>
        </p:spPr>
        <p:txBody>
          <a:bodyPr wrap="square">
            <a:spAutoFit/>
          </a:bodyPr>
          <a:lstStyle/>
          <a:p>
            <a:pPr algn="l"/>
            <a:r>
              <a:rPr sz="1300" b="1" i="0">
                <a:solidFill>
                  <a:srgbClr val="FFFFFF"/>
                </a:solidFill>
                <a:latin typeface="Segoe UI"/>
              </a:rPr>
              <a:t>Engineering</a:t>
            </a:r>
          </a:p>
        </p:txBody>
      </p:sp>
      <p:sp>
        <p:nvSpPr>
          <p:cNvPr id="42" name="TextBox 41"/>
          <p:cNvSpPr txBox="1"/>
          <p:nvPr/>
        </p:nvSpPr>
        <p:spPr>
          <a:xfrm>
            <a:off x="1097280" y="3575304"/>
            <a:ext cx="4663440" cy="201168"/>
          </a:xfrm>
          <a:prstGeom prst="rect">
            <a:avLst/>
          </a:prstGeom>
          <a:noFill/>
        </p:spPr>
        <p:txBody>
          <a:bodyPr wrap="square">
            <a:spAutoFit/>
          </a:bodyPr>
          <a:lstStyle/>
          <a:p>
            <a:pPr algn="l"/>
            <a:r>
              <a:rPr sz="900" b="0" i="0">
                <a:solidFill>
                  <a:srgbClr val="556688"/>
                </a:solidFill>
                <a:latin typeface="Segoe UI"/>
              </a:rPr>
              <a:t>3 non-obvious decisions that made it work</a:t>
            </a:r>
          </a:p>
        </p:txBody>
      </p:sp>
      <p:sp>
        <p:nvSpPr>
          <p:cNvPr id="43" name="Rectangle 42"/>
          <p:cNvSpPr/>
          <p:nvPr/>
        </p:nvSpPr>
        <p:spPr>
          <a:xfrm>
            <a:off x="6373368" y="3282696"/>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73368" y="3282696"/>
            <a:ext cx="45720" cy="5303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37960" y="3374136"/>
            <a:ext cx="347472" cy="347472"/>
          </a:xfrm>
          <a:prstGeom prst="rect">
            <a:avLst/>
          </a:prstGeom>
          <a:noFill/>
        </p:spPr>
        <p:txBody>
          <a:bodyPr wrap="square">
            <a:spAutoFit/>
          </a:bodyPr>
          <a:lstStyle/>
          <a:p>
            <a:pPr algn="l"/>
            <a:r>
              <a:rPr sz="1000" b="1" i="0">
                <a:solidFill>
                  <a:srgbClr val="06B6D4"/>
                </a:solidFill>
                <a:latin typeface="Segoe UI"/>
              </a:rPr>
              <a:t>08</a:t>
            </a:r>
          </a:p>
        </p:txBody>
      </p:sp>
      <p:sp>
        <p:nvSpPr>
          <p:cNvPr id="46" name="TextBox 45"/>
          <p:cNvSpPr txBox="1"/>
          <p:nvPr/>
        </p:nvSpPr>
        <p:spPr>
          <a:xfrm>
            <a:off x="6967728" y="3337560"/>
            <a:ext cx="3291840" cy="274320"/>
          </a:xfrm>
          <a:prstGeom prst="rect">
            <a:avLst/>
          </a:prstGeom>
          <a:noFill/>
        </p:spPr>
        <p:txBody>
          <a:bodyPr wrap="square">
            <a:spAutoFit/>
          </a:bodyPr>
          <a:lstStyle/>
          <a:p>
            <a:pPr algn="l"/>
            <a:r>
              <a:rPr sz="1300" b="1" i="0">
                <a:solidFill>
                  <a:srgbClr val="FFFFFF"/>
                </a:solidFill>
                <a:latin typeface="Segoe UI"/>
              </a:rPr>
              <a:t>Evaluation</a:t>
            </a:r>
          </a:p>
        </p:txBody>
      </p:sp>
      <p:sp>
        <p:nvSpPr>
          <p:cNvPr id="47" name="TextBox 46"/>
          <p:cNvSpPr txBox="1"/>
          <p:nvPr/>
        </p:nvSpPr>
        <p:spPr>
          <a:xfrm>
            <a:off x="6967728" y="3575304"/>
            <a:ext cx="4663440" cy="201168"/>
          </a:xfrm>
          <a:prstGeom prst="rect">
            <a:avLst/>
          </a:prstGeom>
          <a:noFill/>
        </p:spPr>
        <p:txBody>
          <a:bodyPr wrap="square">
            <a:spAutoFit/>
          </a:bodyPr>
          <a:lstStyle/>
          <a:p>
            <a:pPr algn="l"/>
            <a:r>
              <a:rPr sz="900" b="0" i="0">
                <a:solidFill>
                  <a:srgbClr val="556688"/>
                </a:solidFill>
                <a:latin typeface="Segoe UI"/>
              </a:rPr>
              <a:t>PubMedQA results -- honest and complete</a:t>
            </a:r>
          </a:p>
        </p:txBody>
      </p:sp>
      <p:sp>
        <p:nvSpPr>
          <p:cNvPr id="48" name="Rectangle 47"/>
          <p:cNvSpPr/>
          <p:nvPr/>
        </p:nvSpPr>
        <p:spPr>
          <a:xfrm>
            <a:off x="502920" y="3904488"/>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3904488"/>
            <a:ext cx="45720" cy="530352"/>
          </a:xfrm>
          <a:prstGeom prst="rect">
            <a:avLst/>
          </a:prstGeom>
          <a:solidFill>
            <a:srgbClr val="55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3995928"/>
            <a:ext cx="347472" cy="347472"/>
          </a:xfrm>
          <a:prstGeom prst="rect">
            <a:avLst/>
          </a:prstGeom>
          <a:noFill/>
        </p:spPr>
        <p:txBody>
          <a:bodyPr wrap="square">
            <a:spAutoFit/>
          </a:bodyPr>
          <a:lstStyle/>
          <a:p>
            <a:pPr algn="l"/>
            <a:r>
              <a:rPr sz="1000" b="1" i="0">
                <a:solidFill>
                  <a:srgbClr val="556688"/>
                </a:solidFill>
                <a:latin typeface="Segoe UI"/>
              </a:rPr>
              <a:t>09</a:t>
            </a:r>
          </a:p>
        </p:txBody>
      </p:sp>
      <p:sp>
        <p:nvSpPr>
          <p:cNvPr id="51" name="TextBox 50"/>
          <p:cNvSpPr txBox="1"/>
          <p:nvPr/>
        </p:nvSpPr>
        <p:spPr>
          <a:xfrm>
            <a:off x="1097280" y="3959352"/>
            <a:ext cx="3291840" cy="274320"/>
          </a:xfrm>
          <a:prstGeom prst="rect">
            <a:avLst/>
          </a:prstGeom>
          <a:noFill/>
        </p:spPr>
        <p:txBody>
          <a:bodyPr wrap="square">
            <a:spAutoFit/>
          </a:bodyPr>
          <a:lstStyle/>
          <a:p>
            <a:pPr algn="l"/>
            <a:r>
              <a:rPr sz="1300" b="1" i="0">
                <a:solidFill>
                  <a:srgbClr val="FFFFFF"/>
                </a:solidFill>
                <a:latin typeface="Segoe UI"/>
              </a:rPr>
              <a:t>Competitive Analysis</a:t>
            </a:r>
          </a:p>
        </p:txBody>
      </p:sp>
      <p:sp>
        <p:nvSpPr>
          <p:cNvPr id="52" name="TextBox 51"/>
          <p:cNvSpPr txBox="1"/>
          <p:nvPr/>
        </p:nvSpPr>
        <p:spPr>
          <a:xfrm>
            <a:off x="1097280" y="4197096"/>
            <a:ext cx="4663440" cy="201168"/>
          </a:xfrm>
          <a:prstGeom prst="rect">
            <a:avLst/>
          </a:prstGeom>
          <a:noFill/>
        </p:spPr>
        <p:txBody>
          <a:bodyPr wrap="square">
            <a:spAutoFit/>
          </a:bodyPr>
          <a:lstStyle/>
          <a:p>
            <a:pPr algn="l"/>
            <a:r>
              <a:rPr sz="900" b="0" i="0">
                <a:solidFill>
                  <a:srgbClr val="556688"/>
                </a:solidFill>
                <a:latin typeface="Segoe UI"/>
              </a:rPr>
              <a:t>vs. PubMed, ChatGPT, Standard RAG</a:t>
            </a:r>
          </a:p>
        </p:txBody>
      </p:sp>
      <p:sp>
        <p:nvSpPr>
          <p:cNvPr id="53" name="Rectangle 52"/>
          <p:cNvSpPr/>
          <p:nvPr/>
        </p:nvSpPr>
        <p:spPr>
          <a:xfrm>
            <a:off x="6373368" y="3904488"/>
            <a:ext cx="5394960" cy="53035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73368" y="3904488"/>
            <a:ext cx="45720" cy="5303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60" y="3995928"/>
            <a:ext cx="347472" cy="347472"/>
          </a:xfrm>
          <a:prstGeom prst="rect">
            <a:avLst/>
          </a:prstGeom>
          <a:noFill/>
        </p:spPr>
        <p:txBody>
          <a:bodyPr wrap="square">
            <a:spAutoFit/>
          </a:bodyPr>
          <a:lstStyle/>
          <a:p>
            <a:pPr algn="l"/>
            <a:r>
              <a:rPr sz="1000" b="1" i="0">
                <a:solidFill>
                  <a:srgbClr val="F43F5E"/>
                </a:solidFill>
                <a:latin typeface="Segoe UI"/>
              </a:rPr>
              <a:t>10</a:t>
            </a:r>
          </a:p>
        </p:txBody>
      </p:sp>
      <p:sp>
        <p:nvSpPr>
          <p:cNvPr id="56" name="TextBox 55"/>
          <p:cNvSpPr txBox="1"/>
          <p:nvPr/>
        </p:nvSpPr>
        <p:spPr>
          <a:xfrm>
            <a:off x="6967728" y="3959352"/>
            <a:ext cx="3291840" cy="274320"/>
          </a:xfrm>
          <a:prstGeom prst="rect">
            <a:avLst/>
          </a:prstGeom>
          <a:noFill/>
        </p:spPr>
        <p:txBody>
          <a:bodyPr wrap="square">
            <a:spAutoFit/>
          </a:bodyPr>
          <a:lstStyle/>
          <a:p>
            <a:pPr algn="l"/>
            <a:r>
              <a:rPr sz="1300" b="1" i="0">
                <a:solidFill>
                  <a:srgbClr val="FFFFFF"/>
                </a:solidFill>
                <a:latin typeface="Segoe UI"/>
              </a:rPr>
              <a:t>Limitations &amp; Future</a:t>
            </a:r>
          </a:p>
        </p:txBody>
      </p:sp>
      <p:sp>
        <p:nvSpPr>
          <p:cNvPr id="57" name="TextBox 56"/>
          <p:cNvSpPr txBox="1"/>
          <p:nvPr/>
        </p:nvSpPr>
        <p:spPr>
          <a:xfrm>
            <a:off x="6967728" y="4197096"/>
            <a:ext cx="4663440" cy="201168"/>
          </a:xfrm>
          <a:prstGeom prst="rect">
            <a:avLst/>
          </a:prstGeom>
          <a:noFill/>
        </p:spPr>
        <p:txBody>
          <a:bodyPr wrap="square">
            <a:spAutoFit/>
          </a:bodyPr>
          <a:lstStyle/>
          <a:p>
            <a:pPr algn="l"/>
            <a:r>
              <a:rPr sz="900" b="0" i="0">
                <a:solidFill>
                  <a:srgbClr val="556688"/>
                </a:solidFill>
                <a:latin typeface="Segoe UI"/>
              </a:rPr>
              <a:t>Honest assessment + clear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The Problem</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Why existing biomedical AI tools fail researchers and clinicians</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17320"/>
            <a:ext cx="2633472" cy="17190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2633472"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554480"/>
            <a:ext cx="2633472" cy="658368"/>
          </a:xfrm>
          <a:prstGeom prst="rect">
            <a:avLst/>
          </a:prstGeom>
          <a:noFill/>
        </p:spPr>
        <p:txBody>
          <a:bodyPr wrap="square">
            <a:spAutoFit/>
          </a:bodyPr>
          <a:lstStyle/>
          <a:p>
            <a:pPr algn="ctr"/>
            <a:r>
              <a:rPr sz="4200" b="1" i="0">
                <a:solidFill>
                  <a:srgbClr val="06B6D4"/>
                </a:solidFill>
                <a:latin typeface="Segoe UI Semibold"/>
              </a:rPr>
              <a:t>34M+</a:t>
            </a:r>
          </a:p>
        </p:txBody>
      </p:sp>
      <p:sp>
        <p:nvSpPr>
          <p:cNvPr id="12" name="TextBox 11"/>
          <p:cNvSpPr txBox="1"/>
          <p:nvPr/>
        </p:nvSpPr>
        <p:spPr>
          <a:xfrm>
            <a:off x="457200" y="2221992"/>
            <a:ext cx="2633472" cy="384048"/>
          </a:xfrm>
          <a:prstGeom prst="rect">
            <a:avLst/>
          </a:prstGeom>
          <a:noFill/>
        </p:spPr>
        <p:txBody>
          <a:bodyPr wrap="square">
            <a:spAutoFit/>
          </a:bodyPr>
          <a:lstStyle/>
          <a:p>
            <a:pPr algn="ctr"/>
            <a:r>
              <a:rPr sz="1050" b="1" i="0">
                <a:solidFill>
                  <a:srgbClr val="FFFFFF"/>
                </a:solidFill>
                <a:latin typeface="Segoe UI"/>
              </a:rPr>
              <a:t>PubMed Articles</a:t>
            </a:r>
          </a:p>
        </p:txBody>
      </p:sp>
      <p:sp>
        <p:nvSpPr>
          <p:cNvPr id="13" name="TextBox 12"/>
          <p:cNvSpPr txBox="1"/>
          <p:nvPr/>
        </p:nvSpPr>
        <p:spPr>
          <a:xfrm>
            <a:off x="548640" y="2606040"/>
            <a:ext cx="2450592" cy="347472"/>
          </a:xfrm>
          <a:prstGeom prst="rect">
            <a:avLst/>
          </a:prstGeom>
          <a:noFill/>
        </p:spPr>
        <p:txBody>
          <a:bodyPr wrap="square">
            <a:spAutoFit/>
          </a:bodyPr>
          <a:lstStyle/>
          <a:p>
            <a:pPr algn="ctr"/>
            <a:r>
              <a:rPr sz="850" b="0" i="0">
                <a:solidFill>
                  <a:srgbClr val="556688"/>
                </a:solidFill>
                <a:latin typeface="Segoe UI"/>
              </a:rPr>
              <a:t>Impossible to manually keep up</a:t>
            </a:r>
          </a:p>
        </p:txBody>
      </p:sp>
      <p:sp>
        <p:nvSpPr>
          <p:cNvPr id="14" name="Rectangle 13"/>
          <p:cNvSpPr/>
          <p:nvPr/>
        </p:nvSpPr>
        <p:spPr>
          <a:xfrm>
            <a:off x="3337560" y="1417320"/>
            <a:ext cx="2633472" cy="17190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417320"/>
            <a:ext cx="2633472"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1554480"/>
            <a:ext cx="2633472" cy="658368"/>
          </a:xfrm>
          <a:prstGeom prst="rect">
            <a:avLst/>
          </a:prstGeom>
          <a:noFill/>
        </p:spPr>
        <p:txBody>
          <a:bodyPr wrap="square">
            <a:spAutoFit/>
          </a:bodyPr>
          <a:lstStyle/>
          <a:p>
            <a:pPr algn="ctr"/>
            <a:r>
              <a:rPr sz="4200" b="1" i="0">
                <a:solidFill>
                  <a:srgbClr val="F59E0B"/>
                </a:solidFill>
                <a:latin typeface="Segoe UI Semibold"/>
              </a:rPr>
              <a:t>19/day</a:t>
            </a:r>
          </a:p>
        </p:txBody>
      </p:sp>
      <p:sp>
        <p:nvSpPr>
          <p:cNvPr id="17" name="TextBox 16"/>
          <p:cNvSpPr txBox="1"/>
          <p:nvPr/>
        </p:nvSpPr>
        <p:spPr>
          <a:xfrm>
            <a:off x="3337560" y="2221992"/>
            <a:ext cx="2633472" cy="384048"/>
          </a:xfrm>
          <a:prstGeom prst="rect">
            <a:avLst/>
          </a:prstGeom>
          <a:noFill/>
        </p:spPr>
        <p:txBody>
          <a:bodyPr wrap="square">
            <a:spAutoFit/>
          </a:bodyPr>
          <a:lstStyle/>
          <a:p>
            <a:pPr algn="ctr"/>
            <a:r>
              <a:rPr sz="1050" b="1" i="0">
                <a:solidFill>
                  <a:srgbClr val="FFFFFF"/>
                </a:solidFill>
                <a:latin typeface="Segoe UI"/>
              </a:rPr>
              <a:t>Papers per Specialist</a:t>
            </a:r>
          </a:p>
        </p:txBody>
      </p:sp>
      <p:sp>
        <p:nvSpPr>
          <p:cNvPr id="18" name="TextBox 17"/>
          <p:cNvSpPr txBox="1"/>
          <p:nvPr/>
        </p:nvSpPr>
        <p:spPr>
          <a:xfrm>
            <a:off x="3429000" y="2606040"/>
            <a:ext cx="2450592" cy="347472"/>
          </a:xfrm>
          <a:prstGeom prst="rect">
            <a:avLst/>
          </a:prstGeom>
          <a:noFill/>
        </p:spPr>
        <p:txBody>
          <a:bodyPr wrap="square">
            <a:spAutoFit/>
          </a:bodyPr>
          <a:lstStyle/>
          <a:p>
            <a:pPr algn="ctr"/>
            <a:r>
              <a:rPr sz="850" b="0" i="0">
                <a:solidFill>
                  <a:srgbClr val="556688"/>
                </a:solidFill>
                <a:latin typeface="Segoe UI"/>
              </a:rPr>
              <a:t>To stay current in one subspecialty</a:t>
            </a:r>
          </a:p>
        </p:txBody>
      </p:sp>
      <p:sp>
        <p:nvSpPr>
          <p:cNvPr id="19" name="Rectangle 18"/>
          <p:cNvSpPr/>
          <p:nvPr/>
        </p:nvSpPr>
        <p:spPr>
          <a:xfrm>
            <a:off x="6217920" y="1417320"/>
            <a:ext cx="2633472" cy="17190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17320"/>
            <a:ext cx="2633472"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554480"/>
            <a:ext cx="2633472" cy="658368"/>
          </a:xfrm>
          <a:prstGeom prst="rect">
            <a:avLst/>
          </a:prstGeom>
          <a:noFill/>
        </p:spPr>
        <p:txBody>
          <a:bodyPr wrap="square">
            <a:spAutoFit/>
          </a:bodyPr>
          <a:lstStyle/>
          <a:p>
            <a:pPr algn="ctr"/>
            <a:r>
              <a:rPr sz="4200" b="1" i="0">
                <a:solidFill>
                  <a:srgbClr val="F43F5E"/>
                </a:solidFill>
                <a:latin typeface="Segoe UI Semibold"/>
              </a:rPr>
              <a:t>~40%</a:t>
            </a:r>
          </a:p>
        </p:txBody>
      </p:sp>
      <p:sp>
        <p:nvSpPr>
          <p:cNvPr id="22" name="TextBox 21"/>
          <p:cNvSpPr txBox="1"/>
          <p:nvPr/>
        </p:nvSpPr>
        <p:spPr>
          <a:xfrm>
            <a:off x="6217920" y="2221992"/>
            <a:ext cx="2633472" cy="384048"/>
          </a:xfrm>
          <a:prstGeom prst="rect">
            <a:avLst/>
          </a:prstGeom>
          <a:noFill/>
        </p:spPr>
        <p:txBody>
          <a:bodyPr wrap="square">
            <a:spAutoFit/>
          </a:bodyPr>
          <a:lstStyle/>
          <a:p>
            <a:pPr algn="ctr"/>
            <a:r>
              <a:rPr sz="1050" b="1" i="0">
                <a:solidFill>
                  <a:srgbClr val="FFFFFF"/>
                </a:solidFill>
                <a:latin typeface="Segoe UI"/>
              </a:rPr>
              <a:t>LLM Hallucination Rate</a:t>
            </a:r>
          </a:p>
        </p:txBody>
      </p:sp>
      <p:sp>
        <p:nvSpPr>
          <p:cNvPr id="23" name="TextBox 22"/>
          <p:cNvSpPr txBox="1"/>
          <p:nvPr/>
        </p:nvSpPr>
        <p:spPr>
          <a:xfrm>
            <a:off x="6309360" y="2606040"/>
            <a:ext cx="2450592" cy="347472"/>
          </a:xfrm>
          <a:prstGeom prst="rect">
            <a:avLst/>
          </a:prstGeom>
          <a:noFill/>
        </p:spPr>
        <p:txBody>
          <a:bodyPr wrap="square">
            <a:spAutoFit/>
          </a:bodyPr>
          <a:lstStyle/>
          <a:p>
            <a:pPr algn="ctr"/>
            <a:r>
              <a:rPr sz="850" b="0" i="0">
                <a:solidFill>
                  <a:srgbClr val="556688"/>
                </a:solidFill>
                <a:latin typeface="Segoe UI"/>
              </a:rPr>
              <a:t>In ungrounded medical answers</a:t>
            </a:r>
          </a:p>
        </p:txBody>
      </p:sp>
      <p:sp>
        <p:nvSpPr>
          <p:cNvPr id="24" name="Rectangle 23"/>
          <p:cNvSpPr/>
          <p:nvPr/>
        </p:nvSpPr>
        <p:spPr>
          <a:xfrm>
            <a:off x="9098280" y="1417320"/>
            <a:ext cx="2633472" cy="17190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280" y="1417320"/>
            <a:ext cx="2633472"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1554480"/>
            <a:ext cx="2633472" cy="658368"/>
          </a:xfrm>
          <a:prstGeom prst="rect">
            <a:avLst/>
          </a:prstGeom>
          <a:noFill/>
        </p:spPr>
        <p:txBody>
          <a:bodyPr wrap="square">
            <a:spAutoFit/>
          </a:bodyPr>
          <a:lstStyle/>
          <a:p>
            <a:pPr algn="ctr"/>
            <a:r>
              <a:rPr sz="4200" b="1" i="0">
                <a:solidFill>
                  <a:srgbClr val="4F46E5"/>
                </a:solidFill>
                <a:latin typeface="Segoe UI Semibold"/>
              </a:rPr>
              <a:t>0%</a:t>
            </a:r>
          </a:p>
        </p:txBody>
      </p:sp>
      <p:sp>
        <p:nvSpPr>
          <p:cNvPr id="27" name="TextBox 26"/>
          <p:cNvSpPr txBox="1"/>
          <p:nvPr/>
        </p:nvSpPr>
        <p:spPr>
          <a:xfrm>
            <a:off x="9098280" y="2221992"/>
            <a:ext cx="2633472" cy="384048"/>
          </a:xfrm>
          <a:prstGeom prst="rect">
            <a:avLst/>
          </a:prstGeom>
          <a:noFill/>
        </p:spPr>
        <p:txBody>
          <a:bodyPr wrap="square">
            <a:spAutoFit/>
          </a:bodyPr>
          <a:lstStyle/>
          <a:p>
            <a:pPr algn="ctr"/>
            <a:r>
              <a:rPr sz="1050" b="1" i="0">
                <a:solidFill>
                  <a:srgbClr val="FFFFFF"/>
                </a:solidFill>
                <a:latin typeface="Segoe UI"/>
              </a:rPr>
              <a:t>Retrieval Transparency</a:t>
            </a:r>
          </a:p>
        </p:txBody>
      </p:sp>
      <p:sp>
        <p:nvSpPr>
          <p:cNvPr id="28" name="TextBox 27"/>
          <p:cNvSpPr txBox="1"/>
          <p:nvPr/>
        </p:nvSpPr>
        <p:spPr>
          <a:xfrm>
            <a:off x="9189720" y="2606040"/>
            <a:ext cx="2450592" cy="347472"/>
          </a:xfrm>
          <a:prstGeom prst="rect">
            <a:avLst/>
          </a:prstGeom>
          <a:noFill/>
        </p:spPr>
        <p:txBody>
          <a:bodyPr wrap="square">
            <a:spAutoFit/>
          </a:bodyPr>
          <a:lstStyle/>
          <a:p>
            <a:pPr algn="ctr"/>
            <a:r>
              <a:rPr sz="850" b="0" i="0">
                <a:solidFill>
                  <a:srgbClr val="556688"/>
                </a:solidFill>
                <a:latin typeface="Segoe UI"/>
              </a:rPr>
              <a:t>No tool exposes its full reasoning chain</a:t>
            </a:r>
          </a:p>
        </p:txBody>
      </p:sp>
      <p:sp>
        <p:nvSpPr>
          <p:cNvPr id="29" name="Rectangle 28"/>
          <p:cNvSpPr/>
          <p:nvPr/>
        </p:nvSpPr>
        <p:spPr>
          <a:xfrm>
            <a:off x="457200" y="3310128"/>
            <a:ext cx="11247120" cy="1115568"/>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310128"/>
            <a:ext cx="50292" cy="111556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401568"/>
            <a:ext cx="1280160" cy="320040"/>
          </a:xfrm>
          <a:prstGeom prst="rect">
            <a:avLst/>
          </a:prstGeom>
          <a:noFill/>
        </p:spPr>
        <p:txBody>
          <a:bodyPr wrap="square">
            <a:spAutoFit/>
          </a:bodyPr>
          <a:lstStyle/>
          <a:p>
            <a:pPr algn="l"/>
            <a:r>
              <a:rPr sz="1100" b="1" i="0">
                <a:solidFill>
                  <a:srgbClr val="F43F5E"/>
                </a:solidFill>
                <a:latin typeface="Segoe UI"/>
              </a:rPr>
              <a:t>The Gap</a:t>
            </a:r>
          </a:p>
        </p:txBody>
      </p:sp>
      <p:sp>
        <p:nvSpPr>
          <p:cNvPr id="32" name="TextBox 31"/>
          <p:cNvSpPr txBox="1"/>
          <p:nvPr/>
        </p:nvSpPr>
        <p:spPr>
          <a:xfrm>
            <a:off x="658368" y="3730752"/>
            <a:ext cx="10789920" cy="566928"/>
          </a:xfrm>
          <a:prstGeom prst="rect">
            <a:avLst/>
          </a:prstGeom>
          <a:noFill/>
        </p:spPr>
        <p:txBody>
          <a:bodyPr wrap="square">
            <a:spAutoFit/>
          </a:bodyPr>
          <a:lstStyle/>
          <a:p>
            <a:pPr algn="l"/>
            <a:r>
              <a:rPr sz="1100" b="0" i="0">
                <a:solidFill>
                  <a:srgbClr val="A8B4CF"/>
                </a:solidFill>
                <a:latin typeface="Segoe UI"/>
              </a:rPr>
              <a:t>Standard RAG retrieves unconditionally -- every query gets documents whether they help or not, adding noise.  LLMs answer with false confidence and no source attribution.  No existing tool exposes its retrieval decision, passage relevance, or grounded evidence chain to the user.</a:t>
            </a:r>
          </a:p>
        </p:txBody>
      </p:sp>
      <p:sp>
        <p:nvSpPr>
          <p:cNvPr id="33" name="Rectangle 32"/>
          <p:cNvSpPr/>
          <p:nvPr/>
        </p:nvSpPr>
        <p:spPr>
          <a:xfrm>
            <a:off x="457200" y="4590288"/>
            <a:ext cx="11247120" cy="1691640"/>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645152"/>
            <a:ext cx="2286000" cy="274320"/>
          </a:xfrm>
          <a:prstGeom prst="rect">
            <a:avLst/>
          </a:prstGeom>
          <a:noFill/>
        </p:spPr>
        <p:txBody>
          <a:bodyPr wrap="square">
            <a:spAutoFit/>
          </a:bodyPr>
          <a:lstStyle/>
          <a:p>
            <a:pPr algn="l"/>
            <a:r>
              <a:rPr sz="950" b="1" i="0">
                <a:solidFill>
                  <a:srgbClr val="556688"/>
                </a:solidFill>
                <a:latin typeface="Segoe UI"/>
              </a:rPr>
              <a:t>Feature</a:t>
            </a:r>
          </a:p>
        </p:txBody>
      </p:sp>
      <p:sp>
        <p:nvSpPr>
          <p:cNvPr id="35" name="TextBox 34"/>
          <p:cNvSpPr txBox="1"/>
          <p:nvPr/>
        </p:nvSpPr>
        <p:spPr>
          <a:xfrm>
            <a:off x="2834640" y="4645152"/>
            <a:ext cx="2103120" cy="274320"/>
          </a:xfrm>
          <a:prstGeom prst="rect">
            <a:avLst/>
          </a:prstGeom>
          <a:noFill/>
        </p:spPr>
        <p:txBody>
          <a:bodyPr wrap="square">
            <a:spAutoFit/>
          </a:bodyPr>
          <a:lstStyle/>
          <a:p>
            <a:pPr algn="l"/>
            <a:r>
              <a:rPr sz="950" b="0" i="0">
                <a:solidFill>
                  <a:srgbClr val="A8B4CF"/>
                </a:solidFill>
                <a:latin typeface="Segoe UI"/>
              </a:rPr>
              <a:t>PubMed Search</a:t>
            </a:r>
          </a:p>
        </p:txBody>
      </p:sp>
      <p:sp>
        <p:nvSpPr>
          <p:cNvPr id="36" name="TextBox 35"/>
          <p:cNvSpPr txBox="1"/>
          <p:nvPr/>
        </p:nvSpPr>
        <p:spPr>
          <a:xfrm>
            <a:off x="4937760" y="4645152"/>
            <a:ext cx="2103120" cy="274320"/>
          </a:xfrm>
          <a:prstGeom prst="rect">
            <a:avLst/>
          </a:prstGeom>
          <a:noFill/>
        </p:spPr>
        <p:txBody>
          <a:bodyPr wrap="square">
            <a:spAutoFit/>
          </a:bodyPr>
          <a:lstStyle/>
          <a:p>
            <a:pPr algn="l"/>
            <a:r>
              <a:rPr sz="950" b="0" i="0">
                <a:solidFill>
                  <a:srgbClr val="A8B4CF"/>
                </a:solidFill>
                <a:latin typeface="Segoe UI"/>
              </a:rPr>
              <a:t>ChatGPT / LLMs</a:t>
            </a:r>
          </a:p>
        </p:txBody>
      </p:sp>
      <p:sp>
        <p:nvSpPr>
          <p:cNvPr id="37" name="TextBox 36"/>
          <p:cNvSpPr txBox="1"/>
          <p:nvPr/>
        </p:nvSpPr>
        <p:spPr>
          <a:xfrm>
            <a:off x="7040880" y="4645152"/>
            <a:ext cx="2103120" cy="274320"/>
          </a:xfrm>
          <a:prstGeom prst="rect">
            <a:avLst/>
          </a:prstGeom>
          <a:noFill/>
        </p:spPr>
        <p:txBody>
          <a:bodyPr wrap="square">
            <a:spAutoFit/>
          </a:bodyPr>
          <a:lstStyle/>
          <a:p>
            <a:pPr algn="l"/>
            <a:r>
              <a:rPr sz="950" b="0" i="0">
                <a:solidFill>
                  <a:srgbClr val="A8B4CF"/>
                </a:solidFill>
                <a:latin typeface="Segoe UI"/>
              </a:rPr>
              <a:t>Standard RAG</a:t>
            </a:r>
          </a:p>
        </p:txBody>
      </p:sp>
      <p:sp>
        <p:nvSpPr>
          <p:cNvPr id="38" name="TextBox 37"/>
          <p:cNvSpPr txBox="1"/>
          <p:nvPr/>
        </p:nvSpPr>
        <p:spPr>
          <a:xfrm>
            <a:off x="9144000" y="4645152"/>
            <a:ext cx="2377440" cy="274320"/>
          </a:xfrm>
          <a:prstGeom prst="rect">
            <a:avLst/>
          </a:prstGeom>
          <a:noFill/>
        </p:spPr>
        <p:txBody>
          <a:bodyPr wrap="square">
            <a:spAutoFit/>
          </a:bodyPr>
          <a:lstStyle/>
          <a:p>
            <a:pPr algn="l"/>
            <a:r>
              <a:rPr sz="950" b="1" i="0">
                <a:solidFill>
                  <a:srgbClr val="FFFFFF"/>
                </a:solidFill>
                <a:latin typeface="Segoe UI"/>
              </a:rPr>
              <a:t>BioResearch OS</a:t>
            </a:r>
          </a:p>
        </p:txBody>
      </p:sp>
      <p:sp>
        <p:nvSpPr>
          <p:cNvPr id="39" name="Rectangle 38"/>
          <p:cNvSpPr/>
          <p:nvPr/>
        </p:nvSpPr>
        <p:spPr>
          <a:xfrm>
            <a:off x="548640" y="4974336"/>
            <a:ext cx="1106424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029200"/>
            <a:ext cx="2286000" cy="274320"/>
          </a:xfrm>
          <a:prstGeom prst="rect">
            <a:avLst/>
          </a:prstGeom>
          <a:noFill/>
        </p:spPr>
        <p:txBody>
          <a:bodyPr wrap="square">
            <a:spAutoFit/>
          </a:bodyPr>
          <a:lstStyle/>
          <a:p>
            <a:pPr algn="l"/>
            <a:r>
              <a:rPr sz="950" b="0" i="0">
                <a:solidFill>
                  <a:srgbClr val="A8B4CF"/>
                </a:solidFill>
                <a:latin typeface="Segoe UI"/>
              </a:rPr>
              <a:t>Live retrieval</a:t>
            </a:r>
          </a:p>
        </p:txBody>
      </p:sp>
      <p:sp>
        <p:nvSpPr>
          <p:cNvPr id="41" name="TextBox 40"/>
          <p:cNvSpPr txBox="1"/>
          <p:nvPr/>
        </p:nvSpPr>
        <p:spPr>
          <a:xfrm>
            <a:off x="2834640" y="5029200"/>
            <a:ext cx="2103120" cy="274320"/>
          </a:xfrm>
          <a:prstGeom prst="rect">
            <a:avLst/>
          </a:prstGeom>
          <a:noFill/>
        </p:spPr>
        <p:txBody>
          <a:bodyPr wrap="square">
            <a:spAutoFit/>
          </a:bodyPr>
          <a:lstStyle/>
          <a:p>
            <a:pPr algn="l"/>
            <a:r>
              <a:rPr sz="950" b="0" i="0">
                <a:solidFill>
                  <a:srgbClr val="556688"/>
                </a:solidFill>
                <a:latin typeface="Segoe UI"/>
              </a:rPr>
              <a:t>Yes</a:t>
            </a:r>
          </a:p>
        </p:txBody>
      </p:sp>
      <p:sp>
        <p:nvSpPr>
          <p:cNvPr id="42" name="TextBox 41"/>
          <p:cNvSpPr txBox="1"/>
          <p:nvPr/>
        </p:nvSpPr>
        <p:spPr>
          <a:xfrm>
            <a:off x="4937760" y="5029200"/>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43" name="TextBox 42"/>
          <p:cNvSpPr txBox="1"/>
          <p:nvPr/>
        </p:nvSpPr>
        <p:spPr>
          <a:xfrm>
            <a:off x="7040880" y="5029200"/>
            <a:ext cx="2103120" cy="274320"/>
          </a:xfrm>
          <a:prstGeom prst="rect">
            <a:avLst/>
          </a:prstGeom>
          <a:noFill/>
        </p:spPr>
        <p:txBody>
          <a:bodyPr wrap="square">
            <a:spAutoFit/>
          </a:bodyPr>
          <a:lstStyle/>
          <a:p>
            <a:pPr algn="l"/>
            <a:r>
              <a:rPr sz="950" b="0" i="0">
                <a:solidFill>
                  <a:srgbClr val="556688"/>
                </a:solidFill>
                <a:latin typeface="Segoe UI"/>
              </a:rPr>
              <a:t>Yes</a:t>
            </a:r>
          </a:p>
        </p:txBody>
      </p:sp>
      <p:sp>
        <p:nvSpPr>
          <p:cNvPr id="44" name="TextBox 43"/>
          <p:cNvSpPr txBox="1"/>
          <p:nvPr/>
        </p:nvSpPr>
        <p:spPr>
          <a:xfrm>
            <a:off x="9144000" y="5029200"/>
            <a:ext cx="2377440" cy="274320"/>
          </a:xfrm>
          <a:prstGeom prst="rect">
            <a:avLst/>
          </a:prstGeom>
          <a:noFill/>
        </p:spPr>
        <p:txBody>
          <a:bodyPr wrap="square">
            <a:spAutoFit/>
          </a:bodyPr>
          <a:lstStyle/>
          <a:p>
            <a:pPr algn="l"/>
            <a:r>
              <a:rPr sz="950" b="1" i="0">
                <a:solidFill>
                  <a:srgbClr val="10B981"/>
                </a:solidFill>
                <a:latin typeface="Segoe UI"/>
              </a:rPr>
              <a:t>Yes</a:t>
            </a:r>
          </a:p>
        </p:txBody>
      </p:sp>
      <p:sp>
        <p:nvSpPr>
          <p:cNvPr id="45" name="Rectangle 44"/>
          <p:cNvSpPr/>
          <p:nvPr/>
        </p:nvSpPr>
        <p:spPr>
          <a:xfrm>
            <a:off x="548640" y="5358384"/>
            <a:ext cx="1106424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413248"/>
            <a:ext cx="2286000" cy="274320"/>
          </a:xfrm>
          <a:prstGeom prst="rect">
            <a:avLst/>
          </a:prstGeom>
          <a:noFill/>
        </p:spPr>
        <p:txBody>
          <a:bodyPr wrap="square">
            <a:spAutoFit/>
          </a:bodyPr>
          <a:lstStyle/>
          <a:p>
            <a:pPr algn="l"/>
            <a:r>
              <a:rPr sz="950" b="0" i="0">
                <a:solidFill>
                  <a:srgbClr val="A8B4CF"/>
                </a:solidFill>
                <a:latin typeface="Segoe UI"/>
              </a:rPr>
              <a:t>Reasoning</a:t>
            </a:r>
          </a:p>
        </p:txBody>
      </p:sp>
      <p:sp>
        <p:nvSpPr>
          <p:cNvPr id="47" name="TextBox 46"/>
          <p:cNvSpPr txBox="1"/>
          <p:nvPr/>
        </p:nvSpPr>
        <p:spPr>
          <a:xfrm>
            <a:off x="2834640" y="5413248"/>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48" name="TextBox 47"/>
          <p:cNvSpPr txBox="1"/>
          <p:nvPr/>
        </p:nvSpPr>
        <p:spPr>
          <a:xfrm>
            <a:off x="4937760" y="5413248"/>
            <a:ext cx="2103120" cy="274320"/>
          </a:xfrm>
          <a:prstGeom prst="rect">
            <a:avLst/>
          </a:prstGeom>
          <a:noFill/>
        </p:spPr>
        <p:txBody>
          <a:bodyPr wrap="square">
            <a:spAutoFit/>
          </a:bodyPr>
          <a:lstStyle/>
          <a:p>
            <a:pPr algn="l"/>
            <a:r>
              <a:rPr sz="950" b="0" i="0">
                <a:solidFill>
                  <a:srgbClr val="556688"/>
                </a:solidFill>
                <a:latin typeface="Segoe UI"/>
              </a:rPr>
              <a:t>Yes</a:t>
            </a:r>
          </a:p>
        </p:txBody>
      </p:sp>
      <p:sp>
        <p:nvSpPr>
          <p:cNvPr id="49" name="TextBox 48"/>
          <p:cNvSpPr txBox="1"/>
          <p:nvPr/>
        </p:nvSpPr>
        <p:spPr>
          <a:xfrm>
            <a:off x="7040880" y="5413248"/>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50" name="TextBox 49"/>
          <p:cNvSpPr txBox="1"/>
          <p:nvPr/>
        </p:nvSpPr>
        <p:spPr>
          <a:xfrm>
            <a:off x="9144000" y="5413248"/>
            <a:ext cx="2377440" cy="274320"/>
          </a:xfrm>
          <a:prstGeom prst="rect">
            <a:avLst/>
          </a:prstGeom>
          <a:noFill/>
        </p:spPr>
        <p:txBody>
          <a:bodyPr wrap="square">
            <a:spAutoFit/>
          </a:bodyPr>
          <a:lstStyle/>
          <a:p>
            <a:pPr algn="l"/>
            <a:r>
              <a:rPr sz="950" b="1" i="0">
                <a:solidFill>
                  <a:srgbClr val="10B981"/>
                </a:solidFill>
                <a:latin typeface="Segoe UI"/>
              </a:rPr>
              <a:t>Yes</a:t>
            </a:r>
          </a:p>
        </p:txBody>
      </p:sp>
      <p:sp>
        <p:nvSpPr>
          <p:cNvPr id="51" name="Rectangle 50"/>
          <p:cNvSpPr/>
          <p:nvPr/>
        </p:nvSpPr>
        <p:spPr>
          <a:xfrm>
            <a:off x="548640" y="5742432"/>
            <a:ext cx="1106424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5797296"/>
            <a:ext cx="2286000" cy="274320"/>
          </a:xfrm>
          <a:prstGeom prst="rect">
            <a:avLst/>
          </a:prstGeom>
          <a:noFill/>
        </p:spPr>
        <p:txBody>
          <a:bodyPr wrap="square">
            <a:spAutoFit/>
          </a:bodyPr>
          <a:lstStyle/>
          <a:p>
            <a:pPr algn="l"/>
            <a:r>
              <a:rPr sz="950" b="0" i="0">
                <a:solidFill>
                  <a:srgbClr val="A8B4CF"/>
                </a:solidFill>
                <a:latin typeface="Segoe UI"/>
              </a:rPr>
              <a:t>Evidence trace</a:t>
            </a:r>
          </a:p>
        </p:txBody>
      </p:sp>
      <p:sp>
        <p:nvSpPr>
          <p:cNvPr id="53" name="TextBox 52"/>
          <p:cNvSpPr txBox="1"/>
          <p:nvPr/>
        </p:nvSpPr>
        <p:spPr>
          <a:xfrm>
            <a:off x="2834640" y="5797296"/>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54" name="TextBox 53"/>
          <p:cNvSpPr txBox="1"/>
          <p:nvPr/>
        </p:nvSpPr>
        <p:spPr>
          <a:xfrm>
            <a:off x="4937760" y="5797296"/>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55" name="TextBox 54"/>
          <p:cNvSpPr txBox="1"/>
          <p:nvPr/>
        </p:nvSpPr>
        <p:spPr>
          <a:xfrm>
            <a:off x="7040880" y="5797296"/>
            <a:ext cx="2103120" cy="274320"/>
          </a:xfrm>
          <a:prstGeom prst="rect">
            <a:avLst/>
          </a:prstGeom>
          <a:noFill/>
        </p:spPr>
        <p:txBody>
          <a:bodyPr wrap="square">
            <a:spAutoFit/>
          </a:bodyPr>
          <a:lstStyle/>
          <a:p>
            <a:pPr algn="l"/>
            <a:r>
              <a:rPr sz="950" b="0" i="0">
                <a:solidFill>
                  <a:srgbClr val="F43F5E"/>
                </a:solidFill>
                <a:latin typeface="Segoe UI"/>
              </a:rPr>
              <a:t>No</a:t>
            </a:r>
          </a:p>
        </p:txBody>
      </p:sp>
      <p:sp>
        <p:nvSpPr>
          <p:cNvPr id="56" name="TextBox 55"/>
          <p:cNvSpPr txBox="1"/>
          <p:nvPr/>
        </p:nvSpPr>
        <p:spPr>
          <a:xfrm>
            <a:off x="9144000" y="5797296"/>
            <a:ext cx="2377440" cy="274320"/>
          </a:xfrm>
          <a:prstGeom prst="rect">
            <a:avLst/>
          </a:prstGeom>
          <a:noFill/>
        </p:spPr>
        <p:txBody>
          <a:bodyPr wrap="square">
            <a:spAutoFit/>
          </a:bodyPr>
          <a:lstStyle/>
          <a:p>
            <a:pPr algn="l"/>
            <a:r>
              <a:rPr sz="950" b="1" i="0">
                <a:solidFill>
                  <a:srgbClr val="10B981"/>
                </a:solidFill>
                <a:latin typeface="Segoe UI"/>
              </a:rPr>
              <a:t>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Solution: BioResearch OS</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Three integrated layers delivering adaptive, transparent biomedical QA</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389888"/>
            <a:ext cx="3703320" cy="4892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89888"/>
            <a:ext cx="370332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08760"/>
            <a:ext cx="3300984" cy="256032"/>
          </a:xfrm>
          <a:prstGeom prst="rect">
            <a:avLst/>
          </a:prstGeom>
          <a:noFill/>
        </p:spPr>
        <p:txBody>
          <a:bodyPr wrap="square">
            <a:spAutoFit/>
          </a:bodyPr>
          <a:lstStyle/>
          <a:p>
            <a:pPr algn="l"/>
            <a:r>
              <a:rPr sz="850" b="1" i="0">
                <a:solidFill>
                  <a:srgbClr val="4F46E5"/>
                </a:solidFill>
                <a:latin typeface="Segoe UI"/>
              </a:rPr>
              <a:t>LAYER 1</a:t>
            </a:r>
          </a:p>
        </p:txBody>
      </p:sp>
      <p:sp>
        <p:nvSpPr>
          <p:cNvPr id="12" name="TextBox 11"/>
          <p:cNvSpPr txBox="1"/>
          <p:nvPr/>
        </p:nvSpPr>
        <p:spPr>
          <a:xfrm>
            <a:off x="658368" y="1810512"/>
            <a:ext cx="3300984" cy="457200"/>
          </a:xfrm>
          <a:prstGeom prst="rect">
            <a:avLst/>
          </a:prstGeom>
          <a:noFill/>
        </p:spPr>
        <p:txBody>
          <a:bodyPr wrap="square">
            <a:spAutoFit/>
          </a:bodyPr>
          <a:lstStyle/>
          <a:p>
            <a:pPr algn="l"/>
            <a:r>
              <a:rPr sz="1900" b="1" i="0">
                <a:solidFill>
                  <a:srgbClr val="FFFFFF"/>
                </a:solidFill>
                <a:latin typeface="Segoe UI Semibold"/>
              </a:rPr>
              <a:t>Self-RAG Core</a:t>
            </a:r>
          </a:p>
        </p:txBody>
      </p:sp>
      <p:sp>
        <p:nvSpPr>
          <p:cNvPr id="13" name="Rectangle 12"/>
          <p:cNvSpPr/>
          <p:nvPr/>
        </p:nvSpPr>
        <p:spPr>
          <a:xfrm>
            <a:off x="658368" y="2331720"/>
            <a:ext cx="12801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487168"/>
            <a:ext cx="3300984" cy="3474720"/>
          </a:xfrm>
          <a:prstGeom prst="rect">
            <a:avLst/>
          </a:prstGeom>
          <a:noFill/>
        </p:spPr>
        <p:txBody>
          <a:bodyPr wrap="square">
            <a:spAutoFit/>
          </a:bodyPr>
          <a:lstStyle/>
          <a:p>
            <a:pPr algn="l"/>
            <a:r>
              <a:rPr sz="1200" b="0" i="0">
                <a:solidFill>
                  <a:srgbClr val="A8B4CF"/>
                </a:solidFill>
                <a:latin typeface="Segoe UI"/>
              </a:rPr>
              <a:t>Adaptive retrieval via reflection tokens
Model decides when to retrieve.
Critiques every passage.
Selects best-supported answer.</a:t>
            </a:r>
          </a:p>
        </p:txBody>
      </p:sp>
      <p:sp>
        <p:nvSpPr>
          <p:cNvPr id="15" name="Rectangle 14"/>
          <p:cNvSpPr/>
          <p:nvPr/>
        </p:nvSpPr>
        <p:spPr>
          <a:xfrm>
            <a:off x="4389120" y="1389888"/>
            <a:ext cx="3703320" cy="4892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389888"/>
            <a:ext cx="370332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1508760"/>
            <a:ext cx="3300984" cy="256032"/>
          </a:xfrm>
          <a:prstGeom prst="rect">
            <a:avLst/>
          </a:prstGeom>
          <a:noFill/>
        </p:spPr>
        <p:txBody>
          <a:bodyPr wrap="square">
            <a:spAutoFit/>
          </a:bodyPr>
          <a:lstStyle/>
          <a:p>
            <a:pPr algn="l"/>
            <a:r>
              <a:rPr sz="850" b="1" i="0">
                <a:solidFill>
                  <a:srgbClr val="06B6D4"/>
                </a:solidFill>
                <a:latin typeface="Segoe UI"/>
              </a:rPr>
              <a:t>LAYER 2</a:t>
            </a:r>
          </a:p>
        </p:txBody>
      </p:sp>
      <p:sp>
        <p:nvSpPr>
          <p:cNvPr id="18" name="TextBox 17"/>
          <p:cNvSpPr txBox="1"/>
          <p:nvPr/>
        </p:nvSpPr>
        <p:spPr>
          <a:xfrm>
            <a:off x="4590288" y="1810512"/>
            <a:ext cx="3300984" cy="457200"/>
          </a:xfrm>
          <a:prstGeom prst="rect">
            <a:avLst/>
          </a:prstGeom>
          <a:noFill/>
        </p:spPr>
        <p:txBody>
          <a:bodyPr wrap="square">
            <a:spAutoFit/>
          </a:bodyPr>
          <a:lstStyle/>
          <a:p>
            <a:pPr algn="l"/>
            <a:r>
              <a:rPr sz="1900" b="1" i="0">
                <a:solidFill>
                  <a:srgbClr val="FFFFFF"/>
                </a:solidFill>
                <a:latin typeface="Segoe UI Semibold"/>
              </a:rPr>
              <a:t>Hybrid Retrieval</a:t>
            </a:r>
          </a:p>
        </p:txBody>
      </p:sp>
      <p:sp>
        <p:nvSpPr>
          <p:cNvPr id="19" name="Rectangle 18"/>
          <p:cNvSpPr/>
          <p:nvPr/>
        </p:nvSpPr>
        <p:spPr>
          <a:xfrm>
            <a:off x="4590288" y="2331720"/>
            <a:ext cx="128016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0288" y="2487168"/>
            <a:ext cx="3300984" cy="3474720"/>
          </a:xfrm>
          <a:prstGeom prst="rect">
            <a:avLst/>
          </a:prstGeom>
          <a:noFill/>
        </p:spPr>
        <p:txBody>
          <a:bodyPr wrap="square">
            <a:spAutoFit/>
          </a:bodyPr>
          <a:lstStyle/>
          <a:p>
            <a:pPr algn="l"/>
            <a:r>
              <a:rPr sz="1200" b="0" i="0">
                <a:solidFill>
                  <a:srgbClr val="A8B4CF"/>
                </a:solidFill>
                <a:latin typeface="Segoe UI"/>
              </a:rPr>
              <a:t>BM25 (a=0.35) + Dense Blake2b (b=0.65)
CPU-only. Zero GPU required.
Full semantic + lexical fusion
over 1,000 PubMedQA passages.</a:t>
            </a:r>
          </a:p>
        </p:txBody>
      </p:sp>
      <p:sp>
        <p:nvSpPr>
          <p:cNvPr id="21" name="Rectangle 20"/>
          <p:cNvSpPr/>
          <p:nvPr/>
        </p:nvSpPr>
        <p:spPr>
          <a:xfrm>
            <a:off x="8321040" y="1389888"/>
            <a:ext cx="3703320" cy="4892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0" y="1389888"/>
            <a:ext cx="37033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22208" y="1508760"/>
            <a:ext cx="3300984" cy="256032"/>
          </a:xfrm>
          <a:prstGeom prst="rect">
            <a:avLst/>
          </a:prstGeom>
          <a:noFill/>
        </p:spPr>
        <p:txBody>
          <a:bodyPr wrap="square">
            <a:spAutoFit/>
          </a:bodyPr>
          <a:lstStyle/>
          <a:p>
            <a:pPr algn="l"/>
            <a:r>
              <a:rPr sz="850" b="1" i="0">
                <a:solidFill>
                  <a:srgbClr val="10B981"/>
                </a:solidFill>
                <a:latin typeface="Segoe UI"/>
              </a:rPr>
              <a:t>LAYER 3</a:t>
            </a:r>
          </a:p>
        </p:txBody>
      </p:sp>
      <p:sp>
        <p:nvSpPr>
          <p:cNvPr id="24" name="TextBox 23"/>
          <p:cNvSpPr txBox="1"/>
          <p:nvPr/>
        </p:nvSpPr>
        <p:spPr>
          <a:xfrm>
            <a:off x="8522208" y="1810512"/>
            <a:ext cx="3300984" cy="457200"/>
          </a:xfrm>
          <a:prstGeom prst="rect">
            <a:avLst/>
          </a:prstGeom>
          <a:noFill/>
        </p:spPr>
        <p:txBody>
          <a:bodyPr wrap="square">
            <a:spAutoFit/>
          </a:bodyPr>
          <a:lstStyle/>
          <a:p>
            <a:pPr algn="l"/>
            <a:r>
              <a:rPr sz="1900" b="1" i="0">
                <a:solidFill>
                  <a:srgbClr val="FFFFFF"/>
                </a:solidFill>
                <a:latin typeface="Segoe UI Semibold"/>
              </a:rPr>
              <a:t>Next.js 15 Platform</a:t>
            </a:r>
          </a:p>
        </p:txBody>
      </p:sp>
      <p:sp>
        <p:nvSpPr>
          <p:cNvPr id="25" name="Rectangle 24"/>
          <p:cNvSpPr/>
          <p:nvPr/>
        </p:nvSpPr>
        <p:spPr>
          <a:xfrm>
            <a:off x="8522208" y="2331720"/>
            <a:ext cx="12801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22208" y="2487168"/>
            <a:ext cx="3300984" cy="3474720"/>
          </a:xfrm>
          <a:prstGeom prst="rect">
            <a:avLst/>
          </a:prstGeom>
          <a:noFill/>
        </p:spPr>
        <p:txBody>
          <a:bodyPr wrap="square">
            <a:spAutoFit/>
          </a:bodyPr>
          <a:lstStyle/>
          <a:p>
            <a:pPr algn="l"/>
            <a:r>
              <a:rPr sz="1200" b="0" i="0">
                <a:solidFill>
                  <a:srgbClr val="A8B4CF"/>
                </a:solidFill>
                <a:latin typeface="Segoe UI"/>
              </a:rPr>
              <a:t>6-page enterprise workspace
Evidence grounding, confidence
scoring, reflection-token
transparency in every answer.</a:t>
            </a:r>
          </a:p>
        </p:txBody>
      </p:sp>
      <p:sp>
        <p:nvSpPr>
          <p:cNvPr id="27" name="Rectangle 26"/>
          <p:cNvSpPr/>
          <p:nvPr/>
        </p:nvSpPr>
        <p:spPr>
          <a:xfrm>
            <a:off x="594360" y="6455664"/>
            <a:ext cx="1824228" cy="292608"/>
          </a:xfrm>
          <a:prstGeom prst="roundRect">
            <a:avLst>
              <a:gd name="adj" fmla="val 8000"/>
            </a:avLst>
          </a:prstGeom>
          <a:solidFill>
            <a:srgbClr val="22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6492240"/>
            <a:ext cx="1604772" cy="228600"/>
          </a:xfrm>
          <a:prstGeom prst="rect">
            <a:avLst/>
          </a:prstGeom>
          <a:noFill/>
        </p:spPr>
        <p:txBody>
          <a:bodyPr wrap="square">
            <a:spAutoFit/>
          </a:bodyPr>
          <a:lstStyle/>
          <a:p>
            <a:pPr algn="l"/>
            <a:r>
              <a:rPr sz="900" b="1" i="0">
                <a:solidFill>
                  <a:srgbClr val="A8B4CF"/>
                </a:solidFill>
                <a:latin typeface="Segoe UI"/>
              </a:rPr>
              <a:t>PubMedQA Corpus</a:t>
            </a:r>
          </a:p>
        </p:txBody>
      </p:sp>
      <p:sp>
        <p:nvSpPr>
          <p:cNvPr id="29" name="Rectangle 28"/>
          <p:cNvSpPr/>
          <p:nvPr/>
        </p:nvSpPr>
        <p:spPr>
          <a:xfrm>
            <a:off x="2546604" y="6455664"/>
            <a:ext cx="1728216" cy="292608"/>
          </a:xfrm>
          <a:prstGeom prst="roundRect">
            <a:avLst>
              <a:gd name="adj" fmla="val 8000"/>
            </a:avLst>
          </a:prstGeom>
          <a:solidFill>
            <a:srgbClr val="22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56332" y="6492240"/>
            <a:ext cx="1508760" cy="228600"/>
          </a:xfrm>
          <a:prstGeom prst="rect">
            <a:avLst/>
          </a:prstGeom>
          <a:noFill/>
        </p:spPr>
        <p:txBody>
          <a:bodyPr wrap="square">
            <a:spAutoFit/>
          </a:bodyPr>
          <a:lstStyle/>
          <a:p>
            <a:pPr algn="l"/>
            <a:r>
              <a:rPr sz="900" b="1" i="0">
                <a:solidFill>
                  <a:srgbClr val="A8B4CF"/>
                </a:solidFill>
                <a:latin typeface="Segoe UI"/>
              </a:rPr>
              <a:t>1,000 Passages</a:t>
            </a:r>
          </a:p>
        </p:txBody>
      </p:sp>
      <p:sp>
        <p:nvSpPr>
          <p:cNvPr id="31" name="Rectangle 30"/>
          <p:cNvSpPr/>
          <p:nvPr/>
        </p:nvSpPr>
        <p:spPr>
          <a:xfrm>
            <a:off x="4402836" y="6455664"/>
            <a:ext cx="1728216" cy="292608"/>
          </a:xfrm>
          <a:prstGeom prst="roundRect">
            <a:avLst>
              <a:gd name="adj" fmla="val 8000"/>
            </a:avLst>
          </a:prstGeom>
          <a:solidFill>
            <a:srgbClr val="22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2564" y="6492240"/>
            <a:ext cx="1508760" cy="228600"/>
          </a:xfrm>
          <a:prstGeom prst="rect">
            <a:avLst/>
          </a:prstGeom>
          <a:noFill/>
        </p:spPr>
        <p:txBody>
          <a:bodyPr wrap="square">
            <a:spAutoFit/>
          </a:bodyPr>
          <a:lstStyle/>
          <a:p>
            <a:pPr algn="l"/>
            <a:r>
              <a:rPr sz="900" b="1" i="0">
                <a:solidFill>
                  <a:srgbClr val="A8B4CF"/>
                </a:solidFill>
                <a:latin typeface="Segoe UI"/>
              </a:rPr>
              <a:t>CPU Compatible</a:t>
            </a:r>
          </a:p>
        </p:txBody>
      </p:sp>
      <p:sp>
        <p:nvSpPr>
          <p:cNvPr id="33" name="Rectangle 32"/>
          <p:cNvSpPr/>
          <p:nvPr/>
        </p:nvSpPr>
        <p:spPr>
          <a:xfrm>
            <a:off x="6259068" y="6455664"/>
            <a:ext cx="1440180" cy="292608"/>
          </a:xfrm>
          <a:prstGeom prst="roundRect">
            <a:avLst>
              <a:gd name="adj" fmla="val 8000"/>
            </a:avLst>
          </a:prstGeom>
          <a:solidFill>
            <a:srgbClr val="22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8796" y="6492240"/>
            <a:ext cx="1220724" cy="228600"/>
          </a:xfrm>
          <a:prstGeom prst="rect">
            <a:avLst/>
          </a:prstGeom>
          <a:noFill/>
        </p:spPr>
        <p:txBody>
          <a:bodyPr wrap="square">
            <a:spAutoFit/>
          </a:bodyPr>
          <a:lstStyle/>
          <a:p>
            <a:pPr algn="l"/>
            <a:r>
              <a:rPr sz="900" b="1" i="0">
                <a:solidFill>
                  <a:srgbClr val="A8B4CF"/>
                </a:solidFill>
                <a:latin typeface="Segoe UI"/>
              </a:rPr>
              <a:t>Open Source</a:t>
            </a:r>
          </a:p>
        </p:txBody>
      </p:sp>
      <p:sp>
        <p:nvSpPr>
          <p:cNvPr id="35" name="Rectangle 34"/>
          <p:cNvSpPr/>
          <p:nvPr/>
        </p:nvSpPr>
        <p:spPr>
          <a:xfrm>
            <a:off x="7827264" y="6455664"/>
            <a:ext cx="2016252" cy="292608"/>
          </a:xfrm>
          <a:prstGeom prst="roundRect">
            <a:avLst>
              <a:gd name="adj" fmla="val 8000"/>
            </a:avLst>
          </a:prstGeom>
          <a:solidFill>
            <a:srgbClr val="22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36992" y="6492240"/>
            <a:ext cx="1796796" cy="228600"/>
          </a:xfrm>
          <a:prstGeom prst="rect">
            <a:avLst/>
          </a:prstGeom>
          <a:noFill/>
        </p:spPr>
        <p:txBody>
          <a:bodyPr wrap="square">
            <a:spAutoFit/>
          </a:bodyPr>
          <a:lstStyle/>
          <a:p>
            <a:pPr algn="l"/>
            <a:r>
              <a:rPr sz="900" b="1" i="0">
                <a:solidFill>
                  <a:srgbClr val="A8B4CF"/>
                </a:solidFill>
                <a:latin typeface="Segoe UI"/>
              </a:rPr>
              <a:t>No Cloud Required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Self-RAG: How It Works</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Asai et al., ICLR 2024  --  adaptive retrieval through learned self-reflection</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63040"/>
            <a:ext cx="2377440" cy="1234440"/>
          </a:xfrm>
          <a:prstGeom prst="roundRect">
            <a:avLst>
              <a:gd name="adj" fmla="val 8000"/>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72768"/>
            <a:ext cx="2377440" cy="438912"/>
          </a:xfrm>
          <a:prstGeom prst="rect">
            <a:avLst/>
          </a:prstGeom>
          <a:noFill/>
        </p:spPr>
        <p:txBody>
          <a:bodyPr wrap="square">
            <a:spAutoFit/>
          </a:bodyPr>
          <a:lstStyle/>
          <a:p>
            <a:pPr algn="ctr"/>
            <a:r>
              <a:rPr sz="1400" b="1" i="0">
                <a:solidFill>
                  <a:srgbClr val="FFFFFF"/>
                </a:solidFill>
                <a:latin typeface="Segoe UI Semibold"/>
              </a:rPr>
              <a:t>[Retrieve]</a:t>
            </a:r>
          </a:p>
        </p:txBody>
      </p:sp>
      <p:sp>
        <p:nvSpPr>
          <p:cNvPr id="11" name="TextBox 10"/>
          <p:cNvSpPr txBox="1"/>
          <p:nvPr/>
        </p:nvSpPr>
        <p:spPr>
          <a:xfrm>
            <a:off x="457200" y="2029968"/>
            <a:ext cx="2377440" cy="502920"/>
          </a:xfrm>
          <a:prstGeom prst="rect">
            <a:avLst/>
          </a:prstGeom>
          <a:noFill/>
        </p:spPr>
        <p:txBody>
          <a:bodyPr wrap="square">
            <a:spAutoFit/>
          </a:bodyPr>
          <a:lstStyle/>
          <a:p>
            <a:pPr algn="ctr"/>
            <a:r>
              <a:rPr sz="1050" b="0" i="0">
                <a:solidFill>
                  <a:srgbClr val="FFFFFF"/>
                </a:solidFill>
                <a:latin typeface="Segoe UI"/>
              </a:rPr>
              <a:t>Retrieve or
skip?</a:t>
            </a:r>
          </a:p>
        </p:txBody>
      </p:sp>
      <p:sp>
        <p:nvSpPr>
          <p:cNvPr id="12" name="TextBox 11"/>
          <p:cNvSpPr txBox="1"/>
          <p:nvPr/>
        </p:nvSpPr>
        <p:spPr>
          <a:xfrm>
            <a:off x="2788920" y="1847088"/>
            <a:ext cx="201168" cy="384048"/>
          </a:xfrm>
          <a:prstGeom prst="rect">
            <a:avLst/>
          </a:prstGeom>
          <a:noFill/>
        </p:spPr>
        <p:txBody>
          <a:bodyPr wrap="square">
            <a:spAutoFit/>
          </a:bodyPr>
          <a:lstStyle/>
          <a:p>
            <a:pPr algn="ctr"/>
            <a:r>
              <a:rPr sz="2000" b="1" i="0">
                <a:solidFill>
                  <a:srgbClr val="445588"/>
                </a:solidFill>
                <a:latin typeface="Segoe UI"/>
              </a:rPr>
              <a:t>&gt;</a:t>
            </a:r>
          </a:p>
        </p:txBody>
      </p:sp>
      <p:sp>
        <p:nvSpPr>
          <p:cNvPr id="13" name="Rectangle 12"/>
          <p:cNvSpPr/>
          <p:nvPr/>
        </p:nvSpPr>
        <p:spPr>
          <a:xfrm>
            <a:off x="2834640" y="1463040"/>
            <a:ext cx="2377440" cy="1234440"/>
          </a:xfrm>
          <a:prstGeom prst="roundRect">
            <a:avLst>
              <a:gd name="adj" fmla="val 8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1572768"/>
            <a:ext cx="2377440" cy="438912"/>
          </a:xfrm>
          <a:prstGeom prst="rect">
            <a:avLst/>
          </a:prstGeom>
          <a:noFill/>
        </p:spPr>
        <p:txBody>
          <a:bodyPr wrap="square">
            <a:spAutoFit/>
          </a:bodyPr>
          <a:lstStyle/>
          <a:p>
            <a:pPr algn="ctr"/>
            <a:r>
              <a:rPr sz="1400" b="1" i="0">
                <a:solidFill>
                  <a:srgbClr val="FFFFFF"/>
                </a:solidFill>
                <a:latin typeface="Segoe UI Semibold"/>
              </a:rPr>
              <a:t>[IsRel]</a:t>
            </a:r>
          </a:p>
        </p:txBody>
      </p:sp>
      <p:sp>
        <p:nvSpPr>
          <p:cNvPr id="15" name="TextBox 14"/>
          <p:cNvSpPr txBox="1"/>
          <p:nvPr/>
        </p:nvSpPr>
        <p:spPr>
          <a:xfrm>
            <a:off x="2834640" y="2029968"/>
            <a:ext cx="2377440" cy="502920"/>
          </a:xfrm>
          <a:prstGeom prst="rect">
            <a:avLst/>
          </a:prstGeom>
          <a:noFill/>
        </p:spPr>
        <p:txBody>
          <a:bodyPr wrap="square">
            <a:spAutoFit/>
          </a:bodyPr>
          <a:lstStyle/>
          <a:p>
            <a:pPr algn="ctr"/>
            <a:r>
              <a:rPr sz="1050" b="0" i="0">
                <a:solidFill>
                  <a:srgbClr val="FFFFFF"/>
                </a:solidFill>
                <a:latin typeface="Segoe UI"/>
              </a:rPr>
              <a:t>Passage
relevant?</a:t>
            </a:r>
          </a:p>
        </p:txBody>
      </p:sp>
      <p:sp>
        <p:nvSpPr>
          <p:cNvPr id="16" name="TextBox 15"/>
          <p:cNvSpPr txBox="1"/>
          <p:nvPr/>
        </p:nvSpPr>
        <p:spPr>
          <a:xfrm>
            <a:off x="5166360" y="1847088"/>
            <a:ext cx="201168" cy="384048"/>
          </a:xfrm>
          <a:prstGeom prst="rect">
            <a:avLst/>
          </a:prstGeom>
          <a:noFill/>
        </p:spPr>
        <p:txBody>
          <a:bodyPr wrap="square">
            <a:spAutoFit/>
          </a:bodyPr>
          <a:lstStyle/>
          <a:p>
            <a:pPr algn="ctr"/>
            <a:r>
              <a:rPr sz="2000" b="1" i="0">
                <a:solidFill>
                  <a:srgbClr val="445588"/>
                </a:solidFill>
                <a:latin typeface="Segoe UI"/>
              </a:rPr>
              <a:t>&gt;</a:t>
            </a:r>
          </a:p>
        </p:txBody>
      </p:sp>
      <p:sp>
        <p:nvSpPr>
          <p:cNvPr id="17" name="Rectangle 16"/>
          <p:cNvSpPr/>
          <p:nvPr/>
        </p:nvSpPr>
        <p:spPr>
          <a:xfrm>
            <a:off x="5212080" y="1463040"/>
            <a:ext cx="2377440" cy="1234440"/>
          </a:xfrm>
          <a:prstGeom prst="roundRect">
            <a:avLst>
              <a:gd name="adj" fmla="val 8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1572768"/>
            <a:ext cx="2377440" cy="438912"/>
          </a:xfrm>
          <a:prstGeom prst="rect">
            <a:avLst/>
          </a:prstGeom>
          <a:noFill/>
        </p:spPr>
        <p:txBody>
          <a:bodyPr wrap="square">
            <a:spAutoFit/>
          </a:bodyPr>
          <a:lstStyle/>
          <a:p>
            <a:pPr algn="ctr"/>
            <a:r>
              <a:rPr sz="1400" b="1" i="0">
                <a:solidFill>
                  <a:srgbClr val="FFFFFF"/>
                </a:solidFill>
                <a:latin typeface="Segoe UI Semibold"/>
              </a:rPr>
              <a:t>[IsSup]</a:t>
            </a:r>
          </a:p>
        </p:txBody>
      </p:sp>
      <p:sp>
        <p:nvSpPr>
          <p:cNvPr id="19" name="TextBox 18"/>
          <p:cNvSpPr txBox="1"/>
          <p:nvPr/>
        </p:nvSpPr>
        <p:spPr>
          <a:xfrm>
            <a:off x="5212080" y="2029968"/>
            <a:ext cx="2377440" cy="502920"/>
          </a:xfrm>
          <a:prstGeom prst="rect">
            <a:avLst/>
          </a:prstGeom>
          <a:noFill/>
        </p:spPr>
        <p:txBody>
          <a:bodyPr wrap="square">
            <a:spAutoFit/>
          </a:bodyPr>
          <a:lstStyle/>
          <a:p>
            <a:pPr algn="ctr"/>
            <a:r>
              <a:rPr sz="1050" b="0" i="0">
                <a:solidFill>
                  <a:srgbClr val="FFFFFF"/>
                </a:solidFill>
                <a:latin typeface="Segoe UI"/>
              </a:rPr>
              <a:t>Answer
grounded?</a:t>
            </a:r>
          </a:p>
        </p:txBody>
      </p:sp>
      <p:sp>
        <p:nvSpPr>
          <p:cNvPr id="20" name="TextBox 19"/>
          <p:cNvSpPr txBox="1"/>
          <p:nvPr/>
        </p:nvSpPr>
        <p:spPr>
          <a:xfrm>
            <a:off x="7543800" y="1847088"/>
            <a:ext cx="201168" cy="384048"/>
          </a:xfrm>
          <a:prstGeom prst="rect">
            <a:avLst/>
          </a:prstGeom>
          <a:noFill/>
        </p:spPr>
        <p:txBody>
          <a:bodyPr wrap="square">
            <a:spAutoFit/>
          </a:bodyPr>
          <a:lstStyle/>
          <a:p>
            <a:pPr algn="ctr"/>
            <a:r>
              <a:rPr sz="2000" b="1" i="0">
                <a:solidFill>
                  <a:srgbClr val="445588"/>
                </a:solidFill>
                <a:latin typeface="Segoe UI"/>
              </a:rPr>
              <a:t>&gt;</a:t>
            </a:r>
          </a:p>
        </p:txBody>
      </p:sp>
      <p:sp>
        <p:nvSpPr>
          <p:cNvPr id="21" name="Rectangle 20"/>
          <p:cNvSpPr/>
          <p:nvPr/>
        </p:nvSpPr>
        <p:spPr>
          <a:xfrm>
            <a:off x="7589520" y="1463040"/>
            <a:ext cx="2377440" cy="1234440"/>
          </a:xfrm>
          <a:prstGeom prst="roundRect">
            <a:avLst>
              <a:gd name="adj" fmla="val 8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1572768"/>
            <a:ext cx="2377440" cy="438912"/>
          </a:xfrm>
          <a:prstGeom prst="rect">
            <a:avLst/>
          </a:prstGeom>
          <a:noFill/>
        </p:spPr>
        <p:txBody>
          <a:bodyPr wrap="square">
            <a:spAutoFit/>
          </a:bodyPr>
          <a:lstStyle/>
          <a:p>
            <a:pPr algn="ctr"/>
            <a:r>
              <a:rPr sz="1400" b="1" i="0">
                <a:solidFill>
                  <a:srgbClr val="FFFFFF"/>
                </a:solidFill>
                <a:latin typeface="Segoe UI Semibold"/>
              </a:rPr>
              <a:t>[IsUse]</a:t>
            </a:r>
          </a:p>
        </p:txBody>
      </p:sp>
      <p:sp>
        <p:nvSpPr>
          <p:cNvPr id="23" name="TextBox 22"/>
          <p:cNvSpPr txBox="1"/>
          <p:nvPr/>
        </p:nvSpPr>
        <p:spPr>
          <a:xfrm>
            <a:off x="7589520" y="2029968"/>
            <a:ext cx="2377440" cy="502920"/>
          </a:xfrm>
          <a:prstGeom prst="rect">
            <a:avLst/>
          </a:prstGeom>
          <a:noFill/>
        </p:spPr>
        <p:txBody>
          <a:bodyPr wrap="square">
            <a:spAutoFit/>
          </a:bodyPr>
          <a:lstStyle/>
          <a:p>
            <a:pPr algn="ctr"/>
            <a:r>
              <a:rPr sz="1050" b="0" i="0">
                <a:solidFill>
                  <a:srgbClr val="FFFFFF"/>
                </a:solidFill>
                <a:latin typeface="Segoe UI"/>
              </a:rPr>
              <a:t>Quality
1-5</a:t>
            </a:r>
          </a:p>
        </p:txBody>
      </p:sp>
      <p:sp>
        <p:nvSpPr>
          <p:cNvPr id="24" name="Rectangle 23"/>
          <p:cNvSpPr/>
          <p:nvPr/>
        </p:nvSpPr>
        <p:spPr>
          <a:xfrm>
            <a:off x="457200" y="2907792"/>
            <a:ext cx="9601200" cy="621792"/>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907792"/>
            <a:ext cx="50292" cy="6217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2999232"/>
            <a:ext cx="1920240" cy="347472"/>
          </a:xfrm>
          <a:prstGeom prst="rect">
            <a:avLst/>
          </a:prstGeom>
          <a:noFill/>
        </p:spPr>
        <p:txBody>
          <a:bodyPr wrap="square">
            <a:spAutoFit/>
          </a:bodyPr>
          <a:lstStyle/>
          <a:p>
            <a:pPr algn="l"/>
            <a:r>
              <a:rPr sz="1050" b="1" i="0">
                <a:solidFill>
                  <a:srgbClr val="4F46E5"/>
                </a:solidFill>
                <a:latin typeface="Segoe UI"/>
              </a:rPr>
              <a:t>Critique Score:</a:t>
            </a:r>
          </a:p>
        </p:txBody>
      </p:sp>
      <p:sp>
        <p:nvSpPr>
          <p:cNvPr id="27" name="TextBox 26"/>
          <p:cNvSpPr txBox="1"/>
          <p:nvPr/>
        </p:nvSpPr>
        <p:spPr>
          <a:xfrm>
            <a:off x="2606040" y="2999232"/>
            <a:ext cx="7223760" cy="347472"/>
          </a:xfrm>
          <a:prstGeom prst="rect">
            <a:avLst/>
          </a:prstGeom>
          <a:noFill/>
        </p:spPr>
        <p:txBody>
          <a:bodyPr wrap="square">
            <a:spAutoFit/>
          </a:bodyPr>
          <a:lstStyle/>
          <a:p>
            <a:pPr algn="l"/>
            <a:r>
              <a:rPr sz="1300" b="1" i="0">
                <a:solidFill>
                  <a:srgbClr val="FFFFFF"/>
                </a:solidFill>
                <a:latin typeface="Segoe UI"/>
              </a:rPr>
              <a:t>score  =  0.4 x P(IsRel)  +  0.4 x P(FullySup)  +  0.2 x (IsUse / 5)</a:t>
            </a:r>
          </a:p>
        </p:txBody>
      </p:sp>
      <p:sp>
        <p:nvSpPr>
          <p:cNvPr id="28" name="Rectangle 27"/>
          <p:cNvSpPr/>
          <p:nvPr/>
        </p:nvSpPr>
        <p:spPr>
          <a:xfrm>
            <a:off x="457200" y="3730752"/>
            <a:ext cx="3703320" cy="248716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30752"/>
            <a:ext cx="50292" cy="24871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840480"/>
            <a:ext cx="3429000" cy="347472"/>
          </a:xfrm>
          <a:prstGeom prst="rect">
            <a:avLst/>
          </a:prstGeom>
          <a:noFill/>
        </p:spPr>
        <p:txBody>
          <a:bodyPr wrap="square">
            <a:spAutoFit/>
          </a:bodyPr>
          <a:lstStyle/>
          <a:p>
            <a:pPr algn="l"/>
            <a:r>
              <a:rPr sz="1300" b="1" i="0">
                <a:solidFill>
                  <a:srgbClr val="4F46E5"/>
                </a:solidFill>
                <a:latin typeface="Segoe UI"/>
              </a:rPr>
              <a:t>Adaptive Retrieval</a:t>
            </a:r>
          </a:p>
        </p:txBody>
      </p:sp>
      <p:sp>
        <p:nvSpPr>
          <p:cNvPr id="31" name="TextBox 30"/>
          <p:cNvSpPr txBox="1"/>
          <p:nvPr/>
        </p:nvSpPr>
        <p:spPr>
          <a:xfrm>
            <a:off x="640080" y="4279392"/>
            <a:ext cx="3429000" cy="1737360"/>
          </a:xfrm>
          <a:prstGeom prst="rect">
            <a:avLst/>
          </a:prstGeom>
          <a:noFill/>
        </p:spPr>
        <p:txBody>
          <a:bodyPr wrap="square">
            <a:spAutoFit/>
          </a:bodyPr>
          <a:lstStyle/>
          <a:p>
            <a:pPr algn="l"/>
            <a:r>
              <a:rPr sz="1100" b="0" i="0">
                <a:solidFill>
                  <a:srgbClr val="A8B4CF"/>
                </a:solidFill>
                <a:latin typeface="Segoe UI"/>
              </a:rPr>
              <a:t>Emits [No Retrieve] for simple factual queries -- no unnecessary retrieval noise added</a:t>
            </a:r>
          </a:p>
        </p:txBody>
      </p:sp>
      <p:sp>
        <p:nvSpPr>
          <p:cNvPr id="32" name="Rectangle 31"/>
          <p:cNvSpPr/>
          <p:nvPr/>
        </p:nvSpPr>
        <p:spPr>
          <a:xfrm>
            <a:off x="4325112" y="3730752"/>
            <a:ext cx="3703320" cy="248716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25112" y="3730752"/>
            <a:ext cx="50292" cy="248716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7992" y="3840480"/>
            <a:ext cx="3429000" cy="347472"/>
          </a:xfrm>
          <a:prstGeom prst="rect">
            <a:avLst/>
          </a:prstGeom>
          <a:noFill/>
        </p:spPr>
        <p:txBody>
          <a:bodyPr wrap="square">
            <a:spAutoFit/>
          </a:bodyPr>
          <a:lstStyle/>
          <a:p>
            <a:pPr algn="l"/>
            <a:r>
              <a:rPr sz="1300" b="1" i="0">
                <a:solidFill>
                  <a:srgbClr val="06B6D4"/>
                </a:solidFill>
                <a:latin typeface="Segoe UI"/>
              </a:rPr>
              <a:t>Single Unified Model</a:t>
            </a:r>
          </a:p>
        </p:txBody>
      </p:sp>
      <p:sp>
        <p:nvSpPr>
          <p:cNvPr id="35" name="TextBox 34"/>
          <p:cNvSpPr txBox="1"/>
          <p:nvPr/>
        </p:nvSpPr>
        <p:spPr>
          <a:xfrm>
            <a:off x="4507992" y="4279392"/>
            <a:ext cx="3429000" cy="1737360"/>
          </a:xfrm>
          <a:prstGeom prst="rect">
            <a:avLst/>
          </a:prstGeom>
          <a:noFill/>
        </p:spPr>
        <p:txBody>
          <a:bodyPr wrap="square">
            <a:spAutoFit/>
          </a:bodyPr>
          <a:lstStyle/>
          <a:p>
            <a:pPr algn="l"/>
            <a:r>
              <a:rPr sz="1100" b="0" i="0">
                <a:solidFill>
                  <a:srgbClr val="A8B4CF"/>
                </a:solidFill>
                <a:latin typeface="Segoe UI"/>
              </a:rPr>
              <a:t>No external rerankers or classifiers -- self-reflection is learned end-to-end in one LM</a:t>
            </a:r>
          </a:p>
        </p:txBody>
      </p:sp>
      <p:sp>
        <p:nvSpPr>
          <p:cNvPr id="36" name="Rectangle 35"/>
          <p:cNvSpPr/>
          <p:nvPr/>
        </p:nvSpPr>
        <p:spPr>
          <a:xfrm>
            <a:off x="8193024" y="3730752"/>
            <a:ext cx="3703320" cy="248716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93024" y="3730752"/>
            <a:ext cx="50292" cy="24871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75904" y="3840480"/>
            <a:ext cx="3429000" cy="347472"/>
          </a:xfrm>
          <a:prstGeom prst="rect">
            <a:avLst/>
          </a:prstGeom>
          <a:noFill/>
        </p:spPr>
        <p:txBody>
          <a:bodyPr wrap="square">
            <a:spAutoFit/>
          </a:bodyPr>
          <a:lstStyle/>
          <a:p>
            <a:pPr algn="l"/>
            <a:r>
              <a:rPr sz="1300" b="1" i="0">
                <a:solidFill>
                  <a:srgbClr val="10B981"/>
                </a:solidFill>
                <a:latin typeface="Segoe UI"/>
              </a:rPr>
              <a:t>Best-of-N Selection</a:t>
            </a:r>
          </a:p>
        </p:txBody>
      </p:sp>
      <p:sp>
        <p:nvSpPr>
          <p:cNvPr id="39" name="TextBox 38"/>
          <p:cNvSpPr txBox="1"/>
          <p:nvPr/>
        </p:nvSpPr>
        <p:spPr>
          <a:xfrm>
            <a:off x="8375904" y="4279392"/>
            <a:ext cx="3429000" cy="1737360"/>
          </a:xfrm>
          <a:prstGeom prst="rect">
            <a:avLst/>
          </a:prstGeom>
          <a:noFill/>
        </p:spPr>
        <p:txBody>
          <a:bodyPr wrap="square">
            <a:spAutoFit/>
          </a:bodyPr>
          <a:lstStyle/>
          <a:p>
            <a:pPr algn="l"/>
            <a:r>
              <a:rPr sz="1100" b="0" i="0">
                <a:solidFill>
                  <a:srgbClr val="A8B4CF"/>
                </a:solidFill>
                <a:latin typeface="Segoe UI"/>
              </a:rPr>
              <a:t>Multiple candidates generated per retrieved passage -- highest critique score wins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Hybrid Retrieval Engine</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Lexical precision + semantic depth -- zero GPU, zero training required</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17320"/>
            <a:ext cx="5577840" cy="42062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557784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36192"/>
            <a:ext cx="5175504" cy="411480"/>
          </a:xfrm>
          <a:prstGeom prst="rect">
            <a:avLst/>
          </a:prstGeom>
          <a:noFill/>
        </p:spPr>
        <p:txBody>
          <a:bodyPr wrap="square">
            <a:spAutoFit/>
          </a:bodyPr>
          <a:lstStyle/>
          <a:p>
            <a:pPr algn="l"/>
            <a:r>
              <a:rPr sz="1700" b="1" i="0">
                <a:solidFill>
                  <a:srgbClr val="4F46E5"/>
                </a:solidFill>
                <a:latin typeface="Segoe UI"/>
              </a:rPr>
              <a:t>BM25  (Sparse Lexical)</a:t>
            </a:r>
          </a:p>
        </p:txBody>
      </p:sp>
      <p:sp>
        <p:nvSpPr>
          <p:cNvPr id="12" name="TextBox 11"/>
          <p:cNvSpPr txBox="1"/>
          <p:nvPr/>
        </p:nvSpPr>
        <p:spPr>
          <a:xfrm>
            <a:off x="658368" y="1993392"/>
            <a:ext cx="5175504" cy="274320"/>
          </a:xfrm>
          <a:prstGeom prst="rect">
            <a:avLst/>
          </a:prstGeom>
          <a:noFill/>
        </p:spPr>
        <p:txBody>
          <a:bodyPr wrap="square">
            <a:spAutoFit/>
          </a:bodyPr>
          <a:lstStyle/>
          <a:p>
            <a:pPr algn="l"/>
            <a:r>
              <a:rPr sz="1100" b="0" i="1">
                <a:solidFill>
                  <a:srgbClr val="556688"/>
                </a:solidFill>
                <a:latin typeface="Segoe UI"/>
              </a:rPr>
              <a:t>Weight: a = 0.35</a:t>
            </a:r>
          </a:p>
        </p:txBody>
      </p:sp>
      <p:sp>
        <p:nvSpPr>
          <p:cNvPr id="13" name="Rectangle 12"/>
          <p:cNvSpPr/>
          <p:nvPr/>
        </p:nvSpPr>
        <p:spPr>
          <a:xfrm>
            <a:off x="658368" y="2331720"/>
            <a:ext cx="164592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257860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487168"/>
            <a:ext cx="4974336" cy="320040"/>
          </a:xfrm>
          <a:prstGeom prst="rect">
            <a:avLst/>
          </a:prstGeom>
          <a:noFill/>
        </p:spPr>
        <p:txBody>
          <a:bodyPr wrap="square">
            <a:spAutoFit/>
          </a:bodyPr>
          <a:lstStyle/>
          <a:p>
            <a:pPr algn="l"/>
            <a:r>
              <a:rPr sz="1200" b="0" i="0">
                <a:solidFill>
                  <a:srgbClr val="A8B4CF"/>
                </a:solidFill>
                <a:latin typeface="Segoe UI"/>
              </a:rPr>
              <a:t>Robertson &amp; Zaragoza (2009)</a:t>
            </a:r>
          </a:p>
        </p:txBody>
      </p:sp>
      <p:sp>
        <p:nvSpPr>
          <p:cNvPr id="16" name="Rectangle 15"/>
          <p:cNvSpPr/>
          <p:nvPr/>
        </p:nvSpPr>
        <p:spPr>
          <a:xfrm>
            <a:off x="658368" y="299008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2898648"/>
            <a:ext cx="4974336" cy="320040"/>
          </a:xfrm>
          <a:prstGeom prst="rect">
            <a:avLst/>
          </a:prstGeom>
          <a:noFill/>
        </p:spPr>
        <p:txBody>
          <a:bodyPr wrap="square">
            <a:spAutoFit/>
          </a:bodyPr>
          <a:lstStyle/>
          <a:p>
            <a:pPr algn="l"/>
            <a:r>
              <a:rPr sz="1200" b="0" i="0">
                <a:solidFill>
                  <a:srgbClr val="A8B4CF"/>
                </a:solidFill>
                <a:latin typeface="Segoe UI"/>
              </a:rPr>
              <a:t>k1 = 1.5,  b = 0.75</a:t>
            </a:r>
          </a:p>
        </p:txBody>
      </p:sp>
      <p:sp>
        <p:nvSpPr>
          <p:cNvPr id="18" name="Rectangle 17"/>
          <p:cNvSpPr/>
          <p:nvPr/>
        </p:nvSpPr>
        <p:spPr>
          <a:xfrm>
            <a:off x="658368" y="340156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310128"/>
            <a:ext cx="4974336" cy="320040"/>
          </a:xfrm>
          <a:prstGeom prst="rect">
            <a:avLst/>
          </a:prstGeom>
          <a:noFill/>
        </p:spPr>
        <p:txBody>
          <a:bodyPr wrap="square">
            <a:spAutoFit/>
          </a:bodyPr>
          <a:lstStyle/>
          <a:p>
            <a:pPr algn="l"/>
            <a:r>
              <a:rPr sz="1200" b="0" i="0">
                <a:solidFill>
                  <a:srgbClr val="A8B4CF"/>
                </a:solidFill>
                <a:latin typeface="Segoe UI"/>
              </a:rPr>
              <a:t>Pre-computed IDF at index build</a:t>
            </a:r>
          </a:p>
        </p:txBody>
      </p:sp>
      <p:sp>
        <p:nvSpPr>
          <p:cNvPr id="20" name="Rectangle 19"/>
          <p:cNvSpPr/>
          <p:nvPr/>
        </p:nvSpPr>
        <p:spPr>
          <a:xfrm>
            <a:off x="658368" y="381304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721608"/>
            <a:ext cx="4974336" cy="320040"/>
          </a:xfrm>
          <a:prstGeom prst="rect">
            <a:avLst/>
          </a:prstGeom>
          <a:noFill/>
        </p:spPr>
        <p:txBody>
          <a:bodyPr wrap="square">
            <a:spAutoFit/>
          </a:bodyPr>
          <a:lstStyle/>
          <a:p>
            <a:pPr algn="l"/>
            <a:r>
              <a:rPr sz="1200" b="0" i="0">
                <a:solidFill>
                  <a:srgbClr val="A8B4CF"/>
                </a:solidFill>
                <a:latin typeface="Segoe UI"/>
              </a:rPr>
              <a:t>Exact keyword overlap signal</a:t>
            </a:r>
          </a:p>
        </p:txBody>
      </p:sp>
      <p:sp>
        <p:nvSpPr>
          <p:cNvPr id="22" name="Rectangle 21"/>
          <p:cNvSpPr/>
          <p:nvPr/>
        </p:nvSpPr>
        <p:spPr>
          <a:xfrm>
            <a:off x="658368" y="422452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133088"/>
            <a:ext cx="4974336" cy="320040"/>
          </a:xfrm>
          <a:prstGeom prst="rect">
            <a:avLst/>
          </a:prstGeom>
          <a:noFill/>
        </p:spPr>
        <p:txBody>
          <a:bodyPr wrap="square">
            <a:spAutoFit/>
          </a:bodyPr>
          <a:lstStyle/>
          <a:p>
            <a:pPr algn="l"/>
            <a:r>
              <a:rPr sz="1200" b="0" i="0">
                <a:solidFill>
                  <a:srgbClr val="A8B4CF"/>
                </a:solidFill>
                <a:latin typeface="Segoe UI"/>
              </a:rPr>
              <a:t>Robust on domain terminology</a:t>
            </a:r>
          </a:p>
        </p:txBody>
      </p:sp>
      <p:sp>
        <p:nvSpPr>
          <p:cNvPr id="24" name="Rectangle 23"/>
          <p:cNvSpPr/>
          <p:nvPr/>
        </p:nvSpPr>
        <p:spPr>
          <a:xfrm>
            <a:off x="6510528" y="1417320"/>
            <a:ext cx="5577840" cy="42062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10528" y="1417320"/>
            <a:ext cx="557784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11696" y="1536192"/>
            <a:ext cx="5175504" cy="411480"/>
          </a:xfrm>
          <a:prstGeom prst="rect">
            <a:avLst/>
          </a:prstGeom>
          <a:noFill/>
        </p:spPr>
        <p:txBody>
          <a:bodyPr wrap="square">
            <a:spAutoFit/>
          </a:bodyPr>
          <a:lstStyle/>
          <a:p>
            <a:pPr algn="l"/>
            <a:r>
              <a:rPr sz="1700" b="1" i="0">
                <a:solidFill>
                  <a:srgbClr val="06B6D4"/>
                </a:solidFill>
                <a:latin typeface="Segoe UI"/>
              </a:rPr>
              <a:t>Dense Semantic</a:t>
            </a:r>
          </a:p>
        </p:txBody>
      </p:sp>
      <p:sp>
        <p:nvSpPr>
          <p:cNvPr id="27" name="TextBox 26"/>
          <p:cNvSpPr txBox="1"/>
          <p:nvPr/>
        </p:nvSpPr>
        <p:spPr>
          <a:xfrm>
            <a:off x="6711696" y="1993392"/>
            <a:ext cx="5175504" cy="274320"/>
          </a:xfrm>
          <a:prstGeom prst="rect">
            <a:avLst/>
          </a:prstGeom>
          <a:noFill/>
        </p:spPr>
        <p:txBody>
          <a:bodyPr wrap="square">
            <a:spAutoFit/>
          </a:bodyPr>
          <a:lstStyle/>
          <a:p>
            <a:pPr algn="l"/>
            <a:r>
              <a:rPr sz="1100" b="0" i="1">
                <a:solidFill>
                  <a:srgbClr val="556688"/>
                </a:solidFill>
                <a:latin typeface="Segoe UI"/>
              </a:rPr>
              <a:t>Weight: b = 0.65</a:t>
            </a:r>
          </a:p>
        </p:txBody>
      </p:sp>
      <p:sp>
        <p:nvSpPr>
          <p:cNvPr id="28" name="Rectangle 27"/>
          <p:cNvSpPr/>
          <p:nvPr/>
        </p:nvSpPr>
        <p:spPr>
          <a:xfrm>
            <a:off x="6711696" y="2331720"/>
            <a:ext cx="164592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11696" y="257860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94576" y="2487168"/>
            <a:ext cx="4974336" cy="320040"/>
          </a:xfrm>
          <a:prstGeom prst="rect">
            <a:avLst/>
          </a:prstGeom>
          <a:noFill/>
        </p:spPr>
        <p:txBody>
          <a:bodyPr wrap="square">
            <a:spAutoFit/>
          </a:bodyPr>
          <a:lstStyle/>
          <a:p>
            <a:pPr algn="l"/>
            <a:r>
              <a:rPr sz="1200" b="0" i="0">
                <a:solidFill>
                  <a:srgbClr val="A8B4CF"/>
                </a:solidFill>
                <a:latin typeface="Segoe UI"/>
              </a:rPr>
              <a:t>Blake2b hash projection</a:t>
            </a:r>
          </a:p>
        </p:txBody>
      </p:sp>
      <p:sp>
        <p:nvSpPr>
          <p:cNvPr id="31" name="Rectangle 30"/>
          <p:cNvSpPr/>
          <p:nvPr/>
        </p:nvSpPr>
        <p:spPr>
          <a:xfrm>
            <a:off x="6711696" y="299008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94576" y="2898648"/>
            <a:ext cx="4974336" cy="320040"/>
          </a:xfrm>
          <a:prstGeom prst="rect">
            <a:avLst/>
          </a:prstGeom>
          <a:noFill/>
        </p:spPr>
        <p:txBody>
          <a:bodyPr wrap="square">
            <a:spAutoFit/>
          </a:bodyPr>
          <a:lstStyle/>
          <a:p>
            <a:pPr algn="l"/>
            <a:r>
              <a:rPr sz="1200" b="0" i="0">
                <a:solidFill>
                  <a:srgbClr val="A8B4CF"/>
                </a:solidFill>
                <a:latin typeface="Segoe UI"/>
              </a:rPr>
              <a:t>128-dim float vectors</a:t>
            </a:r>
          </a:p>
        </p:txBody>
      </p:sp>
      <p:sp>
        <p:nvSpPr>
          <p:cNvPr id="33" name="Rectangle 32"/>
          <p:cNvSpPr/>
          <p:nvPr/>
        </p:nvSpPr>
        <p:spPr>
          <a:xfrm>
            <a:off x="6711696" y="340156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94576" y="3310128"/>
            <a:ext cx="4974336" cy="320040"/>
          </a:xfrm>
          <a:prstGeom prst="rect">
            <a:avLst/>
          </a:prstGeom>
          <a:noFill/>
        </p:spPr>
        <p:txBody>
          <a:bodyPr wrap="square">
            <a:spAutoFit/>
          </a:bodyPr>
          <a:lstStyle/>
          <a:p>
            <a:pPr algn="l"/>
            <a:r>
              <a:rPr sz="1200" b="0" i="0">
                <a:solidFill>
                  <a:srgbClr val="A8B4CF"/>
                </a:solidFill>
                <a:latin typeface="Segoe UI"/>
              </a:rPr>
              <a:t>Cosine similarity scoring</a:t>
            </a:r>
          </a:p>
        </p:txBody>
      </p:sp>
      <p:sp>
        <p:nvSpPr>
          <p:cNvPr id="35" name="Rectangle 34"/>
          <p:cNvSpPr/>
          <p:nvPr/>
        </p:nvSpPr>
        <p:spPr>
          <a:xfrm>
            <a:off x="6711696" y="381304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94576" y="3721608"/>
            <a:ext cx="4974336" cy="320040"/>
          </a:xfrm>
          <a:prstGeom prst="rect">
            <a:avLst/>
          </a:prstGeom>
          <a:noFill/>
        </p:spPr>
        <p:txBody>
          <a:bodyPr wrap="square">
            <a:spAutoFit/>
          </a:bodyPr>
          <a:lstStyle/>
          <a:p>
            <a:pPr algn="l"/>
            <a:r>
              <a:rPr sz="1200" b="0" i="0">
                <a:solidFill>
                  <a:srgbClr val="A8B4CF"/>
                </a:solidFill>
                <a:latin typeface="Segoe UI"/>
              </a:rPr>
              <a:t>Zero training required</a:t>
            </a:r>
          </a:p>
        </p:txBody>
      </p:sp>
      <p:sp>
        <p:nvSpPr>
          <p:cNvPr id="37" name="Rectangle 36"/>
          <p:cNvSpPr/>
          <p:nvPr/>
        </p:nvSpPr>
        <p:spPr>
          <a:xfrm>
            <a:off x="6711696" y="422452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94576" y="4133088"/>
            <a:ext cx="4974336" cy="320040"/>
          </a:xfrm>
          <a:prstGeom prst="rect">
            <a:avLst/>
          </a:prstGeom>
          <a:noFill/>
        </p:spPr>
        <p:txBody>
          <a:bodyPr wrap="square">
            <a:spAutoFit/>
          </a:bodyPr>
          <a:lstStyle/>
          <a:p>
            <a:pPr algn="l"/>
            <a:r>
              <a:rPr sz="1200" b="0" i="0">
                <a:solidFill>
                  <a:srgbClr val="A8B4CF"/>
                </a:solidFill>
                <a:latin typeface="Segoe UI"/>
              </a:rPr>
              <a:t>&lt; 1ms on laptop CPU</a:t>
            </a:r>
          </a:p>
        </p:txBody>
      </p:sp>
      <p:sp>
        <p:nvSpPr>
          <p:cNvPr id="39" name="TextBox 38"/>
          <p:cNvSpPr txBox="1"/>
          <p:nvPr/>
        </p:nvSpPr>
        <p:spPr>
          <a:xfrm>
            <a:off x="6035040" y="2880360"/>
            <a:ext cx="438912" cy="594360"/>
          </a:xfrm>
          <a:prstGeom prst="rect">
            <a:avLst/>
          </a:prstGeom>
          <a:noFill/>
        </p:spPr>
        <p:txBody>
          <a:bodyPr wrap="square">
            <a:spAutoFit/>
          </a:bodyPr>
          <a:lstStyle/>
          <a:p>
            <a:pPr algn="ctr"/>
            <a:r>
              <a:rPr sz="3600" b="1" i="0">
                <a:solidFill>
                  <a:srgbClr val="FFFFFF"/>
                </a:solidFill>
                <a:latin typeface="Segoe UI"/>
              </a:rPr>
              <a:t>+</a:t>
            </a:r>
          </a:p>
        </p:txBody>
      </p:sp>
      <p:sp>
        <p:nvSpPr>
          <p:cNvPr id="40" name="Rectangle 39"/>
          <p:cNvSpPr/>
          <p:nvPr/>
        </p:nvSpPr>
        <p:spPr>
          <a:xfrm>
            <a:off x="457200" y="5779008"/>
            <a:ext cx="11247120" cy="530352"/>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779008"/>
            <a:ext cx="50292" cy="5303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888736"/>
            <a:ext cx="8229600" cy="320040"/>
          </a:xfrm>
          <a:prstGeom prst="rect">
            <a:avLst/>
          </a:prstGeom>
          <a:noFill/>
        </p:spPr>
        <p:txBody>
          <a:bodyPr wrap="square">
            <a:spAutoFit/>
          </a:bodyPr>
          <a:lstStyle/>
          <a:p>
            <a:pPr algn="l"/>
            <a:r>
              <a:rPr sz="1400" b="1" i="0">
                <a:solidFill>
                  <a:srgbClr val="FFFFFF"/>
                </a:solidFill>
                <a:latin typeface="Segoe UI"/>
              </a:rPr>
              <a:t>Fusion:  score  =  0.35 x BM25_norm  +  0.65 x cosine_sim</a:t>
            </a:r>
          </a:p>
        </p:txBody>
      </p:sp>
      <p:sp>
        <p:nvSpPr>
          <p:cNvPr id="43" name="TextBox 42"/>
          <p:cNvSpPr txBox="1"/>
          <p:nvPr/>
        </p:nvSpPr>
        <p:spPr>
          <a:xfrm>
            <a:off x="8961120" y="5888736"/>
            <a:ext cx="2560320" cy="320040"/>
          </a:xfrm>
          <a:prstGeom prst="rect">
            <a:avLst/>
          </a:prstGeom>
          <a:noFill/>
        </p:spPr>
        <p:txBody>
          <a:bodyPr wrap="square">
            <a:spAutoFit/>
          </a:bodyPr>
          <a:lstStyle/>
          <a:p>
            <a:pPr algn="r"/>
            <a:r>
              <a:rPr sz="1000" b="1" i="0">
                <a:solidFill>
                  <a:srgbClr val="10B981"/>
                </a:solidFill>
                <a:latin typeface="Segoe UI"/>
              </a:rPr>
              <a:t>CPU-only  |  &lt; 5s index build  |  1,000 passages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System Architecture</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4-layer hexagonal design -- each layer independently testable and replaceable</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502920" y="1444752"/>
            <a:ext cx="6217920" cy="96012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44752"/>
            <a:ext cx="50292" cy="9601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99616"/>
            <a:ext cx="1554480" cy="256032"/>
          </a:xfrm>
          <a:prstGeom prst="rect">
            <a:avLst/>
          </a:prstGeom>
          <a:noFill/>
        </p:spPr>
        <p:txBody>
          <a:bodyPr wrap="square">
            <a:spAutoFit/>
          </a:bodyPr>
          <a:lstStyle/>
          <a:p>
            <a:pPr algn="l"/>
            <a:r>
              <a:rPr sz="800" b="1" i="0">
                <a:solidFill>
                  <a:srgbClr val="4F46E5"/>
                </a:solidFill>
                <a:latin typeface="Segoe UI"/>
              </a:rPr>
              <a:t>PRESENTATION</a:t>
            </a:r>
          </a:p>
        </p:txBody>
      </p:sp>
      <p:sp>
        <p:nvSpPr>
          <p:cNvPr id="12" name="TextBox 11"/>
          <p:cNvSpPr txBox="1"/>
          <p:nvPr/>
        </p:nvSpPr>
        <p:spPr>
          <a:xfrm>
            <a:off x="2286000" y="1490472"/>
            <a:ext cx="4069080" cy="320040"/>
          </a:xfrm>
          <a:prstGeom prst="rect">
            <a:avLst/>
          </a:prstGeom>
          <a:noFill/>
        </p:spPr>
        <p:txBody>
          <a:bodyPr wrap="square">
            <a:spAutoFit/>
          </a:bodyPr>
          <a:lstStyle/>
          <a:p>
            <a:pPr algn="l"/>
            <a:r>
              <a:rPr sz="1300" b="1" i="0">
                <a:solidFill>
                  <a:srgbClr val="FFFFFF"/>
                </a:solidFill>
                <a:latin typeface="Segoe UI"/>
              </a:rPr>
              <a:t>Next.js :3000   |   Gradio :7861</a:t>
            </a:r>
          </a:p>
        </p:txBody>
      </p:sp>
      <p:sp>
        <p:nvSpPr>
          <p:cNvPr id="13" name="TextBox 12"/>
          <p:cNvSpPr txBox="1"/>
          <p:nvPr/>
        </p:nvSpPr>
        <p:spPr>
          <a:xfrm>
            <a:off x="2286000" y="1828800"/>
            <a:ext cx="4069080" cy="475488"/>
          </a:xfrm>
          <a:prstGeom prst="rect">
            <a:avLst/>
          </a:prstGeom>
          <a:noFill/>
        </p:spPr>
        <p:txBody>
          <a:bodyPr wrap="square">
            <a:spAutoFit/>
          </a:bodyPr>
          <a:lstStyle/>
          <a:p>
            <a:pPr algn="l"/>
            <a:r>
              <a:rPr sz="1000" b="0" i="0">
                <a:solidFill>
                  <a:srgbClr val="A8B4CF"/>
                </a:solidFill>
                <a:latin typeface="Segoe UI"/>
              </a:rPr>
              <a:t>6-page enterprise UI  *  Gradio rapid-demo</a:t>
            </a:r>
          </a:p>
        </p:txBody>
      </p:sp>
      <p:sp>
        <p:nvSpPr>
          <p:cNvPr id="14" name="TextBox 13"/>
          <p:cNvSpPr txBox="1"/>
          <p:nvPr/>
        </p:nvSpPr>
        <p:spPr>
          <a:xfrm>
            <a:off x="6245352" y="1673352"/>
            <a:ext cx="365760" cy="502920"/>
          </a:xfrm>
          <a:prstGeom prst="rect">
            <a:avLst/>
          </a:prstGeom>
          <a:noFill/>
        </p:spPr>
        <p:txBody>
          <a:bodyPr wrap="square">
            <a:spAutoFit/>
          </a:bodyPr>
          <a:lstStyle/>
          <a:p>
            <a:pPr algn="ctr"/>
            <a:r>
              <a:rPr sz="2400" b="1" i="0">
                <a:solidFill>
                  <a:srgbClr val="4F46E5"/>
                </a:solidFill>
                <a:latin typeface="Segoe UI"/>
              </a:rPr>
              <a:t>4</a:t>
            </a:r>
          </a:p>
        </p:txBody>
      </p:sp>
      <p:sp>
        <p:nvSpPr>
          <p:cNvPr id="15" name="Rectangle 14"/>
          <p:cNvSpPr/>
          <p:nvPr/>
        </p:nvSpPr>
        <p:spPr>
          <a:xfrm>
            <a:off x="758952" y="2496312"/>
            <a:ext cx="5705856" cy="96012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 y="2496312"/>
            <a:ext cx="50292" cy="9601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2551176"/>
            <a:ext cx="1554480" cy="256032"/>
          </a:xfrm>
          <a:prstGeom prst="rect">
            <a:avLst/>
          </a:prstGeom>
          <a:noFill/>
        </p:spPr>
        <p:txBody>
          <a:bodyPr wrap="square">
            <a:spAutoFit/>
          </a:bodyPr>
          <a:lstStyle/>
          <a:p>
            <a:pPr algn="l"/>
            <a:r>
              <a:rPr sz="800" b="1" i="0">
                <a:solidFill>
                  <a:srgbClr val="06B6D4"/>
                </a:solidFill>
                <a:latin typeface="Segoe UI"/>
              </a:rPr>
              <a:t>APPLICATION</a:t>
            </a:r>
          </a:p>
        </p:txBody>
      </p:sp>
      <p:sp>
        <p:nvSpPr>
          <p:cNvPr id="18" name="TextBox 17"/>
          <p:cNvSpPr txBox="1"/>
          <p:nvPr/>
        </p:nvSpPr>
        <p:spPr>
          <a:xfrm>
            <a:off x="2542032" y="2542032"/>
            <a:ext cx="3557016" cy="320040"/>
          </a:xfrm>
          <a:prstGeom prst="rect">
            <a:avLst/>
          </a:prstGeom>
          <a:noFill/>
        </p:spPr>
        <p:txBody>
          <a:bodyPr wrap="square">
            <a:spAutoFit/>
          </a:bodyPr>
          <a:lstStyle/>
          <a:p>
            <a:pPr algn="l"/>
            <a:r>
              <a:rPr sz="1300" b="1" i="0">
                <a:solidFill>
                  <a:srgbClr val="FFFFFF"/>
                </a:solidFill>
                <a:latin typeface="Segoe UI"/>
              </a:rPr>
              <a:t>REST Bridge :7862   |   /api/query</a:t>
            </a:r>
          </a:p>
        </p:txBody>
      </p:sp>
      <p:sp>
        <p:nvSpPr>
          <p:cNvPr id="19" name="TextBox 18"/>
          <p:cNvSpPr txBox="1"/>
          <p:nvPr/>
        </p:nvSpPr>
        <p:spPr>
          <a:xfrm>
            <a:off x="2542032" y="2880360"/>
            <a:ext cx="3557016" cy="475488"/>
          </a:xfrm>
          <a:prstGeom prst="rect">
            <a:avLst/>
          </a:prstGeom>
          <a:noFill/>
        </p:spPr>
        <p:txBody>
          <a:bodyPr wrap="square">
            <a:spAutoFit/>
          </a:bodyPr>
          <a:lstStyle/>
          <a:p>
            <a:pPr algn="l"/>
            <a:r>
              <a:rPr sz="1000" b="0" i="0">
                <a:solidFill>
                  <a:srgbClr val="A8B4CF"/>
                </a:solidFill>
                <a:latin typeface="Segoe UI"/>
              </a:rPr>
              <a:t>stdlib HTTP server  *  JSON normalisation  *  CORS</a:t>
            </a:r>
          </a:p>
        </p:txBody>
      </p:sp>
      <p:sp>
        <p:nvSpPr>
          <p:cNvPr id="20" name="TextBox 19"/>
          <p:cNvSpPr txBox="1"/>
          <p:nvPr/>
        </p:nvSpPr>
        <p:spPr>
          <a:xfrm>
            <a:off x="5989320" y="2724912"/>
            <a:ext cx="365760" cy="502920"/>
          </a:xfrm>
          <a:prstGeom prst="rect">
            <a:avLst/>
          </a:prstGeom>
          <a:noFill/>
        </p:spPr>
        <p:txBody>
          <a:bodyPr wrap="square">
            <a:spAutoFit/>
          </a:bodyPr>
          <a:lstStyle/>
          <a:p>
            <a:pPr algn="ctr"/>
            <a:r>
              <a:rPr sz="2400" b="1" i="0">
                <a:solidFill>
                  <a:srgbClr val="06B6D4"/>
                </a:solidFill>
                <a:latin typeface="Segoe UI"/>
              </a:rPr>
              <a:t>3</a:t>
            </a:r>
          </a:p>
        </p:txBody>
      </p:sp>
      <p:sp>
        <p:nvSpPr>
          <p:cNvPr id="21" name="Rectangle 20"/>
          <p:cNvSpPr/>
          <p:nvPr/>
        </p:nvSpPr>
        <p:spPr>
          <a:xfrm>
            <a:off x="1014984" y="3547872"/>
            <a:ext cx="5193792" cy="96012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14984" y="3547872"/>
            <a:ext cx="50292"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7864" y="3602736"/>
            <a:ext cx="1554480" cy="256032"/>
          </a:xfrm>
          <a:prstGeom prst="rect">
            <a:avLst/>
          </a:prstGeom>
          <a:noFill/>
        </p:spPr>
        <p:txBody>
          <a:bodyPr wrap="square">
            <a:spAutoFit/>
          </a:bodyPr>
          <a:lstStyle/>
          <a:p>
            <a:pPr algn="l"/>
            <a:r>
              <a:rPr sz="800" b="1" i="0">
                <a:solidFill>
                  <a:srgbClr val="F59E0B"/>
                </a:solidFill>
                <a:latin typeface="Segoe UI"/>
              </a:rPr>
              <a:t>INFRASTRUCTURE</a:t>
            </a:r>
          </a:p>
        </p:txBody>
      </p:sp>
      <p:sp>
        <p:nvSpPr>
          <p:cNvPr id="24" name="TextBox 23"/>
          <p:cNvSpPr txBox="1"/>
          <p:nvPr/>
        </p:nvSpPr>
        <p:spPr>
          <a:xfrm>
            <a:off x="2798064" y="3593592"/>
            <a:ext cx="3044952" cy="320040"/>
          </a:xfrm>
          <a:prstGeom prst="rect">
            <a:avLst/>
          </a:prstGeom>
          <a:noFill/>
        </p:spPr>
        <p:txBody>
          <a:bodyPr wrap="square">
            <a:spAutoFit/>
          </a:bodyPr>
          <a:lstStyle/>
          <a:p>
            <a:pPr algn="l"/>
            <a:r>
              <a:rPr sz="1300" b="1" i="0">
                <a:solidFill>
                  <a:srgbClr val="FFFFFF"/>
                </a:solidFill>
                <a:latin typeface="Segoe UI"/>
              </a:rPr>
              <a:t>SelfRAGPipeline   |   Retriever   |   Backends</a:t>
            </a:r>
          </a:p>
        </p:txBody>
      </p:sp>
      <p:sp>
        <p:nvSpPr>
          <p:cNvPr id="25" name="TextBox 24"/>
          <p:cNvSpPr txBox="1"/>
          <p:nvPr/>
        </p:nvSpPr>
        <p:spPr>
          <a:xfrm>
            <a:off x="2798064" y="3931920"/>
            <a:ext cx="3044952" cy="475488"/>
          </a:xfrm>
          <a:prstGeom prst="rect">
            <a:avLst/>
          </a:prstGeom>
          <a:noFill/>
        </p:spPr>
        <p:txBody>
          <a:bodyPr wrap="square">
            <a:spAutoFit/>
          </a:bodyPr>
          <a:lstStyle/>
          <a:p>
            <a:pPr algn="l"/>
            <a:r>
              <a:rPr sz="1000" b="0" i="0">
                <a:solidFill>
                  <a:srgbClr val="A8B4CF"/>
                </a:solidFill>
                <a:latin typeface="Segoe UI"/>
              </a:rPr>
              <a:t>HeuristicBackend  *  HuggingFaceBackend  *  swappable</a:t>
            </a:r>
          </a:p>
        </p:txBody>
      </p:sp>
      <p:sp>
        <p:nvSpPr>
          <p:cNvPr id="26" name="TextBox 25"/>
          <p:cNvSpPr txBox="1"/>
          <p:nvPr/>
        </p:nvSpPr>
        <p:spPr>
          <a:xfrm>
            <a:off x="5733288" y="3776472"/>
            <a:ext cx="365760" cy="502920"/>
          </a:xfrm>
          <a:prstGeom prst="rect">
            <a:avLst/>
          </a:prstGeom>
          <a:noFill/>
        </p:spPr>
        <p:txBody>
          <a:bodyPr wrap="square">
            <a:spAutoFit/>
          </a:bodyPr>
          <a:lstStyle/>
          <a:p>
            <a:pPr algn="ctr"/>
            <a:r>
              <a:rPr sz="2400" b="1" i="0">
                <a:solidFill>
                  <a:srgbClr val="F59E0B"/>
                </a:solidFill>
                <a:latin typeface="Segoe UI"/>
              </a:rPr>
              <a:t>2</a:t>
            </a:r>
          </a:p>
        </p:txBody>
      </p:sp>
      <p:sp>
        <p:nvSpPr>
          <p:cNvPr id="27" name="Rectangle 26"/>
          <p:cNvSpPr/>
          <p:nvPr/>
        </p:nvSpPr>
        <p:spPr>
          <a:xfrm>
            <a:off x="1271016" y="4599432"/>
            <a:ext cx="4681728" cy="96012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71016" y="4599432"/>
            <a:ext cx="50292"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53896" y="4654296"/>
            <a:ext cx="1554480" cy="256032"/>
          </a:xfrm>
          <a:prstGeom prst="rect">
            <a:avLst/>
          </a:prstGeom>
          <a:noFill/>
        </p:spPr>
        <p:txBody>
          <a:bodyPr wrap="square">
            <a:spAutoFit/>
          </a:bodyPr>
          <a:lstStyle/>
          <a:p>
            <a:pPr algn="l"/>
            <a:r>
              <a:rPr sz="800" b="1" i="0">
                <a:solidFill>
                  <a:srgbClr val="10B981"/>
                </a:solidFill>
                <a:latin typeface="Segoe UI"/>
              </a:rPr>
              <a:t>CORPUS</a:t>
            </a:r>
          </a:p>
        </p:txBody>
      </p:sp>
      <p:sp>
        <p:nvSpPr>
          <p:cNvPr id="30" name="TextBox 29"/>
          <p:cNvSpPr txBox="1"/>
          <p:nvPr/>
        </p:nvSpPr>
        <p:spPr>
          <a:xfrm>
            <a:off x="3054096" y="4645152"/>
            <a:ext cx="2532888" cy="320040"/>
          </a:xfrm>
          <a:prstGeom prst="rect">
            <a:avLst/>
          </a:prstGeom>
          <a:noFill/>
        </p:spPr>
        <p:txBody>
          <a:bodyPr wrap="square">
            <a:spAutoFit/>
          </a:bodyPr>
          <a:lstStyle/>
          <a:p>
            <a:pPr algn="l"/>
            <a:r>
              <a:rPr sz="1300" b="1" i="0">
                <a:solidFill>
                  <a:srgbClr val="FFFFFF"/>
                </a:solidFill>
                <a:latin typeface="Segoe UI"/>
              </a:rPr>
              <a:t>pubmedqa_index.json   |   1,000 passages</a:t>
            </a:r>
          </a:p>
        </p:txBody>
      </p:sp>
      <p:sp>
        <p:nvSpPr>
          <p:cNvPr id="31" name="TextBox 30"/>
          <p:cNvSpPr txBox="1"/>
          <p:nvPr/>
        </p:nvSpPr>
        <p:spPr>
          <a:xfrm>
            <a:off x="3054096" y="4983480"/>
            <a:ext cx="2532888" cy="475488"/>
          </a:xfrm>
          <a:prstGeom prst="rect">
            <a:avLst/>
          </a:prstGeom>
          <a:noFill/>
        </p:spPr>
        <p:txBody>
          <a:bodyPr wrap="square">
            <a:spAutoFit/>
          </a:bodyPr>
          <a:lstStyle/>
          <a:p>
            <a:pPr algn="l"/>
            <a:r>
              <a:rPr sz="1000" b="0" i="0">
                <a:solidFill>
                  <a:srgbClr val="A8B4CF"/>
                </a:solidFill>
                <a:latin typeface="Segoe UI"/>
              </a:rPr>
              <a:t>BM25 stats  *  Blake2b embeddings  *  built in &lt;5s</a:t>
            </a:r>
          </a:p>
        </p:txBody>
      </p:sp>
      <p:sp>
        <p:nvSpPr>
          <p:cNvPr id="32" name="TextBox 31"/>
          <p:cNvSpPr txBox="1"/>
          <p:nvPr/>
        </p:nvSpPr>
        <p:spPr>
          <a:xfrm>
            <a:off x="5477256" y="4828032"/>
            <a:ext cx="365760" cy="502920"/>
          </a:xfrm>
          <a:prstGeom prst="rect">
            <a:avLst/>
          </a:prstGeom>
          <a:noFill/>
        </p:spPr>
        <p:txBody>
          <a:bodyPr wrap="square">
            <a:spAutoFit/>
          </a:bodyPr>
          <a:lstStyle/>
          <a:p>
            <a:pPr algn="ctr"/>
            <a:r>
              <a:rPr sz="2400" b="1" i="0">
                <a:solidFill>
                  <a:srgbClr val="10B981"/>
                </a:solidFill>
                <a:latin typeface="Segoe UI"/>
              </a:rPr>
              <a:t>1</a:t>
            </a:r>
          </a:p>
        </p:txBody>
      </p:sp>
      <p:pic>
        <p:nvPicPr>
          <p:cNvPr id="33" name="Picture 32" descr="image.png"/>
          <p:cNvPicPr>
            <a:picLocks noChangeAspect="1"/>
          </p:cNvPicPr>
          <p:nvPr/>
        </p:nvPicPr>
        <p:blipFill>
          <a:blip r:embed="rId2"/>
          <a:stretch>
            <a:fillRect/>
          </a:stretch>
        </p:blipFill>
        <p:spPr>
          <a:xfrm>
            <a:off x="6949440" y="1444752"/>
            <a:ext cx="5029200" cy="7374445"/>
          </a:xfrm>
          <a:prstGeom prst="rect">
            <a:avLst/>
          </a:prstGeom>
        </p:spPr>
      </p:pic>
      <p:sp>
        <p:nvSpPr>
          <p:cNvPr id="34" name="TextBox 33"/>
          <p:cNvSpPr txBox="1"/>
          <p:nvPr/>
        </p:nvSpPr>
        <p:spPr>
          <a:xfrm>
            <a:off x="6949440" y="5669280"/>
            <a:ext cx="5029200" cy="256032"/>
          </a:xfrm>
          <a:prstGeom prst="rect">
            <a:avLst/>
          </a:prstGeom>
          <a:noFill/>
        </p:spPr>
        <p:txBody>
          <a:bodyPr wrap="square">
            <a:spAutoFit/>
          </a:bodyPr>
          <a:lstStyle/>
          <a:p>
            <a:pPr algn="ctr"/>
            <a:r>
              <a:rPr sz="750" b="0" i="1">
                <a:solidFill>
                  <a:srgbClr val="556688"/>
                </a:solidFill>
                <a:latin typeface="Segoe UI"/>
              </a:rPr>
              <a:t>System diagram (generated from architecture spec)</a:t>
            </a:r>
          </a:p>
        </p:txBody>
      </p:sp>
      <p:sp>
        <p:nvSpPr>
          <p:cNvPr id="35" name="Rectangle 34"/>
          <p:cNvSpPr/>
          <p:nvPr/>
        </p:nvSpPr>
        <p:spPr>
          <a:xfrm>
            <a:off x="502920" y="5559552"/>
            <a:ext cx="6263640" cy="658368"/>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559552"/>
            <a:ext cx="50292"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669280"/>
            <a:ext cx="5897880" cy="438912"/>
          </a:xfrm>
          <a:prstGeom prst="rect">
            <a:avLst/>
          </a:prstGeom>
          <a:noFill/>
        </p:spPr>
        <p:txBody>
          <a:bodyPr wrap="square">
            <a:spAutoFit/>
          </a:bodyPr>
          <a:lstStyle/>
          <a:p>
            <a:pPr algn="l"/>
            <a:r>
              <a:rPr sz="950" b="0" i="0">
                <a:solidFill>
                  <a:srgbClr val="A8B4CF"/>
                </a:solidFill>
                <a:latin typeface="Segoe UI"/>
              </a:rPr>
              <a:t>Design principle:  each layer depends ONLY on the layer below.  Swap HeuristicBackend -&gt; HuggingFaceBackend without touching retrieval, bridge, or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BioResearch OS Platform</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Next.js 15  *  TypeScript  *  Tailwind CSS  *  Framer Motion  *  Zustand</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44752"/>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4752"/>
            <a:ext cx="1901952"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1581912"/>
            <a:ext cx="1645920" cy="548640"/>
          </a:xfrm>
          <a:prstGeom prst="rect">
            <a:avLst/>
          </a:prstGeom>
          <a:noFill/>
        </p:spPr>
        <p:txBody>
          <a:bodyPr wrap="square">
            <a:spAutoFit/>
          </a:bodyPr>
          <a:lstStyle/>
          <a:p>
            <a:pPr algn="l"/>
            <a:r>
              <a:rPr sz="1200" b="1" i="0">
                <a:solidFill>
                  <a:srgbClr val="4F46E5"/>
                </a:solidFill>
                <a:latin typeface="Segoe UI"/>
              </a:rPr>
              <a:t>Research
Workspace</a:t>
            </a:r>
          </a:p>
        </p:txBody>
      </p:sp>
      <p:sp>
        <p:nvSpPr>
          <p:cNvPr id="12" name="TextBox 11"/>
          <p:cNvSpPr txBox="1"/>
          <p:nvPr/>
        </p:nvSpPr>
        <p:spPr>
          <a:xfrm>
            <a:off x="585216" y="2157984"/>
            <a:ext cx="1645920" cy="1298448"/>
          </a:xfrm>
          <a:prstGeom prst="rect">
            <a:avLst/>
          </a:prstGeom>
          <a:noFill/>
        </p:spPr>
        <p:txBody>
          <a:bodyPr wrap="square">
            <a:spAutoFit/>
          </a:bodyPr>
          <a:lstStyle/>
          <a:p>
            <a:pPr algn="l"/>
            <a:r>
              <a:rPr sz="950" b="0" i="0">
                <a:solidFill>
                  <a:srgbClr val="A8B4CF"/>
                </a:solidFill>
                <a:latin typeface="Segoe UI"/>
              </a:rPr>
              <a:t>Conversational Q&amp;A
with live retrieval
and evidence panels</a:t>
            </a:r>
          </a:p>
        </p:txBody>
      </p:sp>
      <p:sp>
        <p:nvSpPr>
          <p:cNvPr id="13" name="Rectangle 12"/>
          <p:cNvSpPr/>
          <p:nvPr/>
        </p:nvSpPr>
        <p:spPr>
          <a:xfrm>
            <a:off x="2542032" y="1444752"/>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42032" y="1444752"/>
            <a:ext cx="1901952"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1581912"/>
            <a:ext cx="1645920" cy="548640"/>
          </a:xfrm>
          <a:prstGeom prst="rect">
            <a:avLst/>
          </a:prstGeom>
          <a:noFill/>
        </p:spPr>
        <p:txBody>
          <a:bodyPr wrap="square">
            <a:spAutoFit/>
          </a:bodyPr>
          <a:lstStyle/>
          <a:p>
            <a:pPr algn="l"/>
            <a:r>
              <a:rPr sz="1200" b="1" i="0">
                <a:solidFill>
                  <a:srgbClr val="06B6D4"/>
                </a:solidFill>
                <a:latin typeface="Segoe UI"/>
              </a:rPr>
              <a:t>Literature
Explorer</a:t>
            </a:r>
          </a:p>
        </p:txBody>
      </p:sp>
      <p:sp>
        <p:nvSpPr>
          <p:cNvPr id="16" name="TextBox 15"/>
          <p:cNvSpPr txBox="1"/>
          <p:nvPr/>
        </p:nvSpPr>
        <p:spPr>
          <a:xfrm>
            <a:off x="2670048" y="2157984"/>
            <a:ext cx="1645920" cy="1298448"/>
          </a:xfrm>
          <a:prstGeom prst="rect">
            <a:avLst/>
          </a:prstGeom>
          <a:noFill/>
        </p:spPr>
        <p:txBody>
          <a:bodyPr wrap="square">
            <a:spAutoFit/>
          </a:bodyPr>
          <a:lstStyle/>
          <a:p>
            <a:pPr algn="l"/>
            <a:r>
              <a:rPr sz="950" b="0" i="0">
                <a:solidFill>
                  <a:srgbClr val="A8B4CF"/>
                </a:solidFill>
                <a:latin typeface="Segoe UI"/>
              </a:rPr>
              <a:t>Search-to-workspace
routing and
passage browsing</a:t>
            </a:r>
          </a:p>
        </p:txBody>
      </p:sp>
      <p:sp>
        <p:nvSpPr>
          <p:cNvPr id="17" name="Rectangle 16"/>
          <p:cNvSpPr/>
          <p:nvPr/>
        </p:nvSpPr>
        <p:spPr>
          <a:xfrm>
            <a:off x="4626864" y="1444752"/>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26864" y="1444752"/>
            <a:ext cx="1901952"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1581912"/>
            <a:ext cx="1645920" cy="548640"/>
          </a:xfrm>
          <a:prstGeom prst="rect">
            <a:avLst/>
          </a:prstGeom>
          <a:noFill/>
        </p:spPr>
        <p:txBody>
          <a:bodyPr wrap="square">
            <a:spAutoFit/>
          </a:bodyPr>
          <a:lstStyle/>
          <a:p>
            <a:pPr algn="l"/>
            <a:r>
              <a:rPr sz="1200" b="1" i="0">
                <a:solidFill>
                  <a:srgbClr val="F59E0B"/>
                </a:solidFill>
                <a:latin typeface="Segoe UI"/>
              </a:rPr>
              <a:t>Knowledge
Vault</a:t>
            </a:r>
          </a:p>
        </p:txBody>
      </p:sp>
      <p:sp>
        <p:nvSpPr>
          <p:cNvPr id="20" name="TextBox 19"/>
          <p:cNvSpPr txBox="1"/>
          <p:nvPr/>
        </p:nvSpPr>
        <p:spPr>
          <a:xfrm>
            <a:off x="4754880" y="2157984"/>
            <a:ext cx="1645920" cy="1298448"/>
          </a:xfrm>
          <a:prstGeom prst="rect">
            <a:avLst/>
          </a:prstGeom>
          <a:noFill/>
        </p:spPr>
        <p:txBody>
          <a:bodyPr wrap="square">
            <a:spAutoFit/>
          </a:bodyPr>
          <a:lstStyle/>
          <a:p>
            <a:pPr algn="l"/>
            <a:r>
              <a:rPr sz="950" b="0" i="0">
                <a:solidFill>
                  <a:srgbClr val="A8B4CF"/>
                </a:solidFill>
                <a:latin typeface="Segoe UI"/>
              </a:rPr>
              <a:t>Save &amp; tag evidence
passages across
all sessions</a:t>
            </a:r>
          </a:p>
        </p:txBody>
      </p:sp>
      <p:sp>
        <p:nvSpPr>
          <p:cNvPr id="21" name="Rectangle 20"/>
          <p:cNvSpPr/>
          <p:nvPr/>
        </p:nvSpPr>
        <p:spPr>
          <a:xfrm>
            <a:off x="457200" y="3767328"/>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67328"/>
            <a:ext cx="1901952"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3904488"/>
            <a:ext cx="1645920" cy="548640"/>
          </a:xfrm>
          <a:prstGeom prst="rect">
            <a:avLst/>
          </a:prstGeom>
          <a:noFill/>
        </p:spPr>
        <p:txBody>
          <a:bodyPr wrap="square">
            <a:spAutoFit/>
          </a:bodyPr>
          <a:lstStyle/>
          <a:p>
            <a:pPr algn="l"/>
            <a:r>
              <a:rPr sz="1200" b="1" i="0">
                <a:solidFill>
                  <a:srgbClr val="10B981"/>
                </a:solidFill>
                <a:latin typeface="Segoe UI"/>
              </a:rPr>
              <a:t>Analytics
Dashboard</a:t>
            </a:r>
          </a:p>
        </p:txBody>
      </p:sp>
      <p:sp>
        <p:nvSpPr>
          <p:cNvPr id="24" name="TextBox 23"/>
          <p:cNvSpPr txBox="1"/>
          <p:nvPr/>
        </p:nvSpPr>
        <p:spPr>
          <a:xfrm>
            <a:off x="585216" y="4480560"/>
            <a:ext cx="1645920" cy="1298448"/>
          </a:xfrm>
          <a:prstGeom prst="rect">
            <a:avLst/>
          </a:prstGeom>
          <a:noFill/>
        </p:spPr>
        <p:txBody>
          <a:bodyPr wrap="square">
            <a:spAutoFit/>
          </a:bodyPr>
          <a:lstStyle/>
          <a:p>
            <a:pPr algn="l"/>
            <a:r>
              <a:rPr sz="950" b="0" i="0">
                <a:solidFill>
                  <a:srgbClr val="A8B4CF"/>
                </a:solidFill>
                <a:latin typeface="Segoe UI"/>
              </a:rPr>
              <a:t>Session stats,
query metrics,
retrieval rates</a:t>
            </a:r>
          </a:p>
        </p:txBody>
      </p:sp>
      <p:sp>
        <p:nvSpPr>
          <p:cNvPr id="25" name="Rectangle 24"/>
          <p:cNvSpPr/>
          <p:nvPr/>
        </p:nvSpPr>
        <p:spPr>
          <a:xfrm>
            <a:off x="2542032" y="3767328"/>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42032" y="3767328"/>
            <a:ext cx="1901952"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70048" y="3904488"/>
            <a:ext cx="1645920" cy="548640"/>
          </a:xfrm>
          <a:prstGeom prst="rect">
            <a:avLst/>
          </a:prstGeom>
          <a:noFill/>
        </p:spPr>
        <p:txBody>
          <a:bodyPr wrap="square">
            <a:spAutoFit/>
          </a:bodyPr>
          <a:lstStyle/>
          <a:p>
            <a:pPr algn="l"/>
            <a:r>
              <a:rPr sz="1200" b="1" i="0">
                <a:solidFill>
                  <a:srgbClr val="F43F5E"/>
                </a:solidFill>
                <a:latin typeface="Segoe UI"/>
              </a:rPr>
              <a:t>Settings</a:t>
            </a:r>
          </a:p>
        </p:txBody>
      </p:sp>
      <p:sp>
        <p:nvSpPr>
          <p:cNvPr id="28" name="TextBox 27"/>
          <p:cNvSpPr txBox="1"/>
          <p:nvPr/>
        </p:nvSpPr>
        <p:spPr>
          <a:xfrm>
            <a:off x="2670048" y="4480560"/>
            <a:ext cx="1645920" cy="1298448"/>
          </a:xfrm>
          <a:prstGeom prst="rect">
            <a:avLst/>
          </a:prstGeom>
          <a:noFill/>
        </p:spPr>
        <p:txBody>
          <a:bodyPr wrap="square">
            <a:spAutoFit/>
          </a:bodyPr>
          <a:lstStyle/>
          <a:p>
            <a:pPr algn="l"/>
            <a:r>
              <a:rPr sz="950" b="0" i="0">
                <a:solidFill>
                  <a:srgbClr val="A8B4CF"/>
                </a:solidFill>
                <a:latin typeface="Segoe UI"/>
              </a:rPr>
              <a:t>Backend URL,
top-K, inference
mode toggle</a:t>
            </a:r>
          </a:p>
        </p:txBody>
      </p:sp>
      <p:sp>
        <p:nvSpPr>
          <p:cNvPr id="29" name="Rectangle 28"/>
          <p:cNvSpPr/>
          <p:nvPr/>
        </p:nvSpPr>
        <p:spPr>
          <a:xfrm>
            <a:off x="4626864" y="3767328"/>
            <a:ext cx="1901952" cy="21762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26864" y="3767328"/>
            <a:ext cx="1901952"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3904488"/>
            <a:ext cx="1645920" cy="548640"/>
          </a:xfrm>
          <a:prstGeom prst="rect">
            <a:avLst/>
          </a:prstGeom>
          <a:noFill/>
        </p:spPr>
        <p:txBody>
          <a:bodyPr wrap="square">
            <a:spAutoFit/>
          </a:bodyPr>
          <a:lstStyle/>
          <a:p>
            <a:pPr algn="l"/>
            <a:r>
              <a:rPr sz="1200" b="1" i="0">
                <a:solidFill>
                  <a:srgbClr val="8B5CF6"/>
                </a:solidFill>
                <a:latin typeface="Segoe UI"/>
              </a:rPr>
              <a:t>Profile</a:t>
            </a:r>
          </a:p>
        </p:txBody>
      </p:sp>
      <p:sp>
        <p:nvSpPr>
          <p:cNvPr id="32" name="TextBox 31"/>
          <p:cNvSpPr txBox="1"/>
          <p:nvPr/>
        </p:nvSpPr>
        <p:spPr>
          <a:xfrm>
            <a:off x="4754880" y="4480560"/>
            <a:ext cx="1645920" cy="1298448"/>
          </a:xfrm>
          <a:prstGeom prst="rect">
            <a:avLst/>
          </a:prstGeom>
          <a:noFill/>
        </p:spPr>
        <p:txBody>
          <a:bodyPr wrap="square">
            <a:spAutoFit/>
          </a:bodyPr>
          <a:lstStyle/>
          <a:p>
            <a:pPr algn="l"/>
            <a:r>
              <a:rPr sz="950" b="0" i="0">
                <a:solidFill>
                  <a:srgbClr val="A8B4CF"/>
                </a:solidFill>
                <a:latin typeface="Segoe UI"/>
              </a:rPr>
              <a:t>Usage statistics
and account info</a:t>
            </a:r>
          </a:p>
        </p:txBody>
      </p:sp>
      <p:pic>
        <p:nvPicPr>
          <p:cNvPr id="33" name="Picture 32" descr="ssui.png"/>
          <p:cNvPicPr>
            <a:picLocks noChangeAspect="1"/>
          </p:cNvPicPr>
          <p:nvPr/>
        </p:nvPicPr>
        <p:blipFill>
          <a:blip r:embed="rId2"/>
          <a:stretch>
            <a:fillRect/>
          </a:stretch>
        </p:blipFill>
        <p:spPr>
          <a:xfrm>
            <a:off x="6510528" y="1444752"/>
            <a:ext cx="5440680" cy="3268659"/>
          </a:xfrm>
          <a:prstGeom prst="rect">
            <a:avLst/>
          </a:prstGeom>
        </p:spPr>
      </p:pic>
      <p:sp>
        <p:nvSpPr>
          <p:cNvPr id="34" name="TextBox 33"/>
          <p:cNvSpPr txBox="1"/>
          <p:nvPr/>
        </p:nvSpPr>
        <p:spPr>
          <a:xfrm>
            <a:off x="6510528" y="5596128"/>
            <a:ext cx="5440680" cy="256032"/>
          </a:xfrm>
          <a:prstGeom prst="rect">
            <a:avLst/>
          </a:prstGeom>
          <a:noFill/>
        </p:spPr>
        <p:txBody>
          <a:bodyPr wrap="square">
            <a:spAutoFit/>
          </a:bodyPr>
          <a:lstStyle/>
          <a:p>
            <a:pPr algn="ctr"/>
            <a:r>
              <a:rPr sz="800" b="0" i="1">
                <a:solidFill>
                  <a:srgbClr val="556688"/>
                </a:solidFill>
                <a:latin typeface="Segoe UI"/>
              </a:rPr>
              <a:t>Live: BioResearch OS -- Research Workspace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Live Platform Screenshots</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BioResearch OS running locally -- real Self-RAG queries with evidence grounding</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pic>
        <p:nvPicPr>
          <p:cNvPr id="9" name="Picture 8" descr="ssui.png"/>
          <p:cNvPicPr>
            <a:picLocks noChangeAspect="1"/>
          </p:cNvPicPr>
          <p:nvPr/>
        </p:nvPicPr>
        <p:blipFill>
          <a:blip r:embed="rId2"/>
          <a:stretch>
            <a:fillRect/>
          </a:stretch>
        </p:blipFill>
        <p:spPr>
          <a:xfrm>
            <a:off x="457200" y="1444752"/>
            <a:ext cx="5577840" cy="3351062"/>
          </a:xfrm>
          <a:prstGeom prst="rect">
            <a:avLst/>
          </a:prstGeom>
        </p:spPr>
      </p:pic>
      <p:sp>
        <p:nvSpPr>
          <p:cNvPr id="10" name="Rectangle 9"/>
          <p:cNvSpPr/>
          <p:nvPr/>
        </p:nvSpPr>
        <p:spPr>
          <a:xfrm>
            <a:off x="457200" y="5166360"/>
            <a:ext cx="5577840" cy="384048"/>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230368"/>
            <a:ext cx="5303520" cy="256032"/>
          </a:xfrm>
          <a:prstGeom prst="rect">
            <a:avLst/>
          </a:prstGeom>
          <a:noFill/>
        </p:spPr>
        <p:txBody>
          <a:bodyPr wrap="square">
            <a:spAutoFit/>
          </a:bodyPr>
          <a:lstStyle/>
          <a:p>
            <a:pPr algn="l"/>
            <a:r>
              <a:rPr sz="850" b="0" i="1">
                <a:solidFill>
                  <a:srgbClr val="A8B4CF"/>
                </a:solidFill>
                <a:latin typeface="Segoe UI"/>
              </a:rPr>
              <a:t>Home -- Research Workspace with retrieval badge and confidence bar</a:t>
            </a:r>
          </a:p>
        </p:txBody>
      </p:sp>
      <p:pic>
        <p:nvPicPr>
          <p:cNvPr id="12" name="Picture 11" descr="ssui2.png"/>
          <p:cNvPicPr>
            <a:picLocks noChangeAspect="1"/>
          </p:cNvPicPr>
          <p:nvPr/>
        </p:nvPicPr>
        <p:blipFill>
          <a:blip r:embed="rId3"/>
          <a:stretch>
            <a:fillRect/>
          </a:stretch>
        </p:blipFill>
        <p:spPr>
          <a:xfrm>
            <a:off x="6291072" y="1444752"/>
            <a:ext cx="5577840" cy="3101324"/>
          </a:xfrm>
          <a:prstGeom prst="rect">
            <a:avLst/>
          </a:prstGeom>
        </p:spPr>
      </p:pic>
      <p:sp>
        <p:nvSpPr>
          <p:cNvPr id="13" name="Rectangle 12"/>
          <p:cNvSpPr/>
          <p:nvPr/>
        </p:nvSpPr>
        <p:spPr>
          <a:xfrm>
            <a:off x="6291072" y="5166360"/>
            <a:ext cx="5577840" cy="384048"/>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5230368"/>
            <a:ext cx="5303520" cy="256032"/>
          </a:xfrm>
          <a:prstGeom prst="rect">
            <a:avLst/>
          </a:prstGeom>
          <a:noFill/>
        </p:spPr>
        <p:txBody>
          <a:bodyPr wrap="square">
            <a:spAutoFit/>
          </a:bodyPr>
          <a:lstStyle/>
          <a:p>
            <a:pPr algn="l"/>
            <a:r>
              <a:rPr sz="850" b="0" i="1">
                <a:solidFill>
                  <a:srgbClr val="A8B4CF"/>
                </a:solidFill>
                <a:latin typeface="Segoe UI"/>
              </a:rPr>
              <a:t>Expanded reasoning panel -- reflection tokens: IsRel, IsSup, IsUse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3 Key Engineering Decisions</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Non-obvious technical choices -- and why each one mattered</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44752"/>
            <a:ext cx="11247120" cy="1463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4752"/>
            <a:ext cx="50292" cy="14630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54480"/>
            <a:ext cx="457200" cy="502920"/>
          </a:xfrm>
          <a:prstGeom prst="rect">
            <a:avLst/>
          </a:prstGeom>
          <a:noFill/>
        </p:spPr>
        <p:txBody>
          <a:bodyPr wrap="square">
            <a:spAutoFit/>
          </a:bodyPr>
          <a:lstStyle/>
          <a:p>
            <a:pPr algn="l"/>
            <a:r>
              <a:rPr sz="2400" b="1" i="0">
                <a:solidFill>
                  <a:srgbClr val="4F46E5"/>
                </a:solidFill>
                <a:latin typeface="Segoe UI"/>
              </a:rPr>
              <a:t>01</a:t>
            </a:r>
          </a:p>
        </p:txBody>
      </p:sp>
      <p:sp>
        <p:nvSpPr>
          <p:cNvPr id="12" name="TextBox 11"/>
          <p:cNvSpPr txBox="1"/>
          <p:nvPr/>
        </p:nvSpPr>
        <p:spPr>
          <a:xfrm>
            <a:off x="1234440" y="1554480"/>
            <a:ext cx="4663440" cy="365760"/>
          </a:xfrm>
          <a:prstGeom prst="rect">
            <a:avLst/>
          </a:prstGeom>
          <a:noFill/>
        </p:spPr>
        <p:txBody>
          <a:bodyPr wrap="square">
            <a:spAutoFit/>
          </a:bodyPr>
          <a:lstStyle/>
          <a:p>
            <a:pPr algn="l"/>
            <a:r>
              <a:rPr sz="1400" b="1" i="0">
                <a:solidFill>
                  <a:srgbClr val="FFFFFF"/>
                </a:solidFill>
                <a:latin typeface="Segoe UI"/>
              </a:rPr>
              <a:t>REST Bridge (not Gradio API)</a:t>
            </a:r>
          </a:p>
        </p:txBody>
      </p:sp>
      <p:sp>
        <p:nvSpPr>
          <p:cNvPr id="13" name="TextBox 12"/>
          <p:cNvSpPr txBox="1"/>
          <p:nvPr/>
        </p:nvSpPr>
        <p:spPr>
          <a:xfrm>
            <a:off x="1234440" y="1975104"/>
            <a:ext cx="804672" cy="256032"/>
          </a:xfrm>
          <a:prstGeom prst="rect">
            <a:avLst/>
          </a:prstGeom>
          <a:noFill/>
        </p:spPr>
        <p:txBody>
          <a:bodyPr wrap="square">
            <a:spAutoFit/>
          </a:bodyPr>
          <a:lstStyle/>
          <a:p>
            <a:pPr algn="l"/>
            <a:r>
              <a:rPr sz="950" b="1" i="0">
                <a:solidFill>
                  <a:srgbClr val="F43F5E"/>
                </a:solidFill>
                <a:latin typeface="Segoe UI"/>
              </a:rPr>
              <a:t>Problem:</a:t>
            </a:r>
          </a:p>
        </p:txBody>
      </p:sp>
      <p:sp>
        <p:nvSpPr>
          <p:cNvPr id="14" name="TextBox 13"/>
          <p:cNvSpPr txBox="1"/>
          <p:nvPr/>
        </p:nvSpPr>
        <p:spPr>
          <a:xfrm>
            <a:off x="2084831" y="1975104"/>
            <a:ext cx="3931920" cy="256032"/>
          </a:xfrm>
          <a:prstGeom prst="rect">
            <a:avLst/>
          </a:prstGeom>
          <a:noFill/>
        </p:spPr>
        <p:txBody>
          <a:bodyPr wrap="square">
            <a:spAutoFit/>
          </a:bodyPr>
          <a:lstStyle/>
          <a:p>
            <a:pPr algn="l"/>
            <a:r>
              <a:rPr sz="950" b="0" i="0">
                <a:solidFill>
                  <a:srgbClr val="A8B4CF"/>
                </a:solidFill>
                <a:latin typeface="Segoe UI"/>
              </a:rPr>
              <a:t>Gradio 6 returns gr.update() objects through SSE queue -- not JSON-serialisable. Next.js fetch calls failed silently.</a:t>
            </a:r>
          </a:p>
        </p:txBody>
      </p:sp>
      <p:sp>
        <p:nvSpPr>
          <p:cNvPr id="15" name="Rectangle 14"/>
          <p:cNvSpPr/>
          <p:nvPr/>
        </p:nvSpPr>
        <p:spPr>
          <a:xfrm>
            <a:off x="6108192" y="1700784"/>
            <a:ext cx="18288" cy="914400"/>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1975104"/>
            <a:ext cx="841248" cy="256032"/>
          </a:xfrm>
          <a:prstGeom prst="rect">
            <a:avLst/>
          </a:prstGeom>
          <a:noFill/>
        </p:spPr>
        <p:txBody>
          <a:bodyPr wrap="square">
            <a:spAutoFit/>
          </a:bodyPr>
          <a:lstStyle/>
          <a:p>
            <a:pPr algn="l"/>
            <a:r>
              <a:rPr sz="950" b="1" i="0">
                <a:solidFill>
                  <a:srgbClr val="10B981"/>
                </a:solidFill>
                <a:latin typeface="Segoe UI"/>
              </a:rPr>
              <a:t>Solution:</a:t>
            </a:r>
          </a:p>
        </p:txBody>
      </p:sp>
      <p:sp>
        <p:nvSpPr>
          <p:cNvPr id="17" name="TextBox 16"/>
          <p:cNvSpPr txBox="1"/>
          <p:nvPr/>
        </p:nvSpPr>
        <p:spPr>
          <a:xfrm>
            <a:off x="7178040" y="1975104"/>
            <a:ext cx="4343400" cy="621792"/>
          </a:xfrm>
          <a:prstGeom prst="rect">
            <a:avLst/>
          </a:prstGeom>
          <a:noFill/>
        </p:spPr>
        <p:txBody>
          <a:bodyPr wrap="square">
            <a:spAutoFit/>
          </a:bodyPr>
          <a:lstStyle/>
          <a:p>
            <a:pPr algn="l"/>
            <a:r>
              <a:rPr sz="950" b="0" i="0">
                <a:solidFill>
                  <a:srgbClr val="A8B4CF"/>
                </a:solidFill>
                <a:latin typeface="Segoe UI"/>
              </a:rPr>
              <a:t>stdlib BaseHTTPRequestHandler on :7862 calls run_demo() directly -&gt; clean JSON. ~80 lines, zero dependencies. Gradio demo stays intact.</a:t>
            </a:r>
          </a:p>
        </p:txBody>
      </p:sp>
      <p:sp>
        <p:nvSpPr>
          <p:cNvPr id="18" name="Rectangle 17"/>
          <p:cNvSpPr/>
          <p:nvPr/>
        </p:nvSpPr>
        <p:spPr>
          <a:xfrm>
            <a:off x="457200" y="3035808"/>
            <a:ext cx="11247120" cy="1463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035808"/>
            <a:ext cx="50292" cy="14630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145536"/>
            <a:ext cx="457200" cy="502920"/>
          </a:xfrm>
          <a:prstGeom prst="rect">
            <a:avLst/>
          </a:prstGeom>
          <a:noFill/>
        </p:spPr>
        <p:txBody>
          <a:bodyPr wrap="square">
            <a:spAutoFit/>
          </a:bodyPr>
          <a:lstStyle/>
          <a:p>
            <a:pPr algn="l"/>
            <a:r>
              <a:rPr sz="2400" b="1" i="0">
                <a:solidFill>
                  <a:srgbClr val="06B6D4"/>
                </a:solidFill>
                <a:latin typeface="Segoe UI"/>
              </a:rPr>
              <a:t>02</a:t>
            </a:r>
          </a:p>
        </p:txBody>
      </p:sp>
      <p:sp>
        <p:nvSpPr>
          <p:cNvPr id="21" name="TextBox 20"/>
          <p:cNvSpPr txBox="1"/>
          <p:nvPr/>
        </p:nvSpPr>
        <p:spPr>
          <a:xfrm>
            <a:off x="1234440" y="3145536"/>
            <a:ext cx="4663440" cy="365760"/>
          </a:xfrm>
          <a:prstGeom prst="rect">
            <a:avLst/>
          </a:prstGeom>
          <a:noFill/>
        </p:spPr>
        <p:txBody>
          <a:bodyPr wrap="square">
            <a:spAutoFit/>
          </a:bodyPr>
          <a:lstStyle/>
          <a:p>
            <a:pPr algn="l"/>
            <a:r>
              <a:rPr sz="1400" b="1" i="0">
                <a:solidFill>
                  <a:srgbClr val="FFFFFF"/>
                </a:solidFill>
                <a:latin typeface="Segoe UI"/>
              </a:rPr>
              <a:t>Blake2b Hash Projection</a:t>
            </a:r>
          </a:p>
        </p:txBody>
      </p:sp>
      <p:sp>
        <p:nvSpPr>
          <p:cNvPr id="22" name="TextBox 21"/>
          <p:cNvSpPr txBox="1"/>
          <p:nvPr/>
        </p:nvSpPr>
        <p:spPr>
          <a:xfrm>
            <a:off x="1234440" y="3566160"/>
            <a:ext cx="804672" cy="256032"/>
          </a:xfrm>
          <a:prstGeom prst="rect">
            <a:avLst/>
          </a:prstGeom>
          <a:noFill/>
        </p:spPr>
        <p:txBody>
          <a:bodyPr wrap="square">
            <a:spAutoFit/>
          </a:bodyPr>
          <a:lstStyle/>
          <a:p>
            <a:pPr algn="l"/>
            <a:r>
              <a:rPr sz="950" b="1" i="0">
                <a:solidFill>
                  <a:srgbClr val="F43F5E"/>
                </a:solidFill>
                <a:latin typeface="Segoe UI"/>
              </a:rPr>
              <a:t>Problem:</a:t>
            </a:r>
          </a:p>
        </p:txBody>
      </p:sp>
      <p:sp>
        <p:nvSpPr>
          <p:cNvPr id="23" name="TextBox 22"/>
          <p:cNvSpPr txBox="1"/>
          <p:nvPr/>
        </p:nvSpPr>
        <p:spPr>
          <a:xfrm>
            <a:off x="2084831" y="3566160"/>
            <a:ext cx="3931920" cy="256032"/>
          </a:xfrm>
          <a:prstGeom prst="rect">
            <a:avLst/>
          </a:prstGeom>
          <a:noFill/>
        </p:spPr>
        <p:txBody>
          <a:bodyPr wrap="square">
            <a:spAutoFit/>
          </a:bodyPr>
          <a:lstStyle/>
          <a:p>
            <a:pPr algn="l"/>
            <a:r>
              <a:rPr sz="950" b="0" i="0">
                <a:solidFill>
                  <a:srgbClr val="A8B4CF"/>
                </a:solidFill>
                <a:latin typeface="Segoe UI"/>
              </a:rPr>
              <a:t>Dense semantic retrieval normally requires a trained sentence encoder and GPU inference.</a:t>
            </a:r>
          </a:p>
        </p:txBody>
      </p:sp>
      <p:sp>
        <p:nvSpPr>
          <p:cNvPr id="24" name="Rectangle 23"/>
          <p:cNvSpPr/>
          <p:nvPr/>
        </p:nvSpPr>
        <p:spPr>
          <a:xfrm>
            <a:off x="6108192" y="3291840"/>
            <a:ext cx="18288" cy="914400"/>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3566160"/>
            <a:ext cx="841248" cy="256032"/>
          </a:xfrm>
          <a:prstGeom prst="rect">
            <a:avLst/>
          </a:prstGeom>
          <a:noFill/>
        </p:spPr>
        <p:txBody>
          <a:bodyPr wrap="square">
            <a:spAutoFit/>
          </a:bodyPr>
          <a:lstStyle/>
          <a:p>
            <a:pPr algn="l"/>
            <a:r>
              <a:rPr sz="950" b="1" i="0">
                <a:solidFill>
                  <a:srgbClr val="10B981"/>
                </a:solidFill>
                <a:latin typeface="Segoe UI"/>
              </a:rPr>
              <a:t>Solution:</a:t>
            </a:r>
          </a:p>
        </p:txBody>
      </p:sp>
      <p:sp>
        <p:nvSpPr>
          <p:cNvPr id="26" name="TextBox 25"/>
          <p:cNvSpPr txBox="1"/>
          <p:nvPr/>
        </p:nvSpPr>
        <p:spPr>
          <a:xfrm>
            <a:off x="7178040" y="3566160"/>
            <a:ext cx="4343400" cy="621792"/>
          </a:xfrm>
          <a:prstGeom prst="rect">
            <a:avLst/>
          </a:prstGeom>
          <a:noFill/>
        </p:spPr>
        <p:txBody>
          <a:bodyPr wrap="square">
            <a:spAutoFit/>
          </a:bodyPr>
          <a:lstStyle/>
          <a:p>
            <a:pPr algn="l"/>
            <a:r>
              <a:rPr sz="950" b="0" i="0">
                <a:solidFill>
                  <a:srgbClr val="A8B4CF"/>
                </a:solidFill>
                <a:latin typeface="Segoe UI"/>
              </a:rPr>
              <a:t>hashlib.blake2b(token).digest() -&gt; 128-dim float, mean-pooled. Zero training, zero FAISS, &lt;1ms on CPU. Full system runs on a laptop.</a:t>
            </a:r>
          </a:p>
        </p:txBody>
      </p:sp>
      <p:sp>
        <p:nvSpPr>
          <p:cNvPr id="27" name="Rectangle 26"/>
          <p:cNvSpPr/>
          <p:nvPr/>
        </p:nvSpPr>
        <p:spPr>
          <a:xfrm>
            <a:off x="457200" y="4626864"/>
            <a:ext cx="11247120" cy="146304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626864"/>
            <a:ext cx="50292" cy="14630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736592"/>
            <a:ext cx="457200" cy="502920"/>
          </a:xfrm>
          <a:prstGeom prst="rect">
            <a:avLst/>
          </a:prstGeom>
          <a:noFill/>
        </p:spPr>
        <p:txBody>
          <a:bodyPr wrap="square">
            <a:spAutoFit/>
          </a:bodyPr>
          <a:lstStyle/>
          <a:p>
            <a:pPr algn="l"/>
            <a:r>
              <a:rPr sz="2400" b="1" i="0">
                <a:solidFill>
                  <a:srgbClr val="F59E0B"/>
                </a:solidFill>
                <a:latin typeface="Segoe UI"/>
              </a:rPr>
              <a:t>03</a:t>
            </a:r>
          </a:p>
        </p:txBody>
      </p:sp>
      <p:sp>
        <p:nvSpPr>
          <p:cNvPr id="30" name="TextBox 29"/>
          <p:cNvSpPr txBox="1"/>
          <p:nvPr/>
        </p:nvSpPr>
        <p:spPr>
          <a:xfrm>
            <a:off x="1234440" y="4736592"/>
            <a:ext cx="4663440" cy="365760"/>
          </a:xfrm>
          <a:prstGeom prst="rect">
            <a:avLst/>
          </a:prstGeom>
          <a:noFill/>
        </p:spPr>
        <p:txBody>
          <a:bodyPr wrap="square">
            <a:spAutoFit/>
          </a:bodyPr>
          <a:lstStyle/>
          <a:p>
            <a:pPr algn="l"/>
            <a:r>
              <a:rPr sz="1400" b="1" i="0">
                <a:solidFill>
                  <a:srgbClr val="FFFFFF"/>
                </a:solidFill>
                <a:latin typeface="Segoe UI"/>
              </a:rPr>
              <a:t>Full Message Object in Store</a:t>
            </a:r>
          </a:p>
        </p:txBody>
      </p:sp>
      <p:sp>
        <p:nvSpPr>
          <p:cNvPr id="31" name="TextBox 30"/>
          <p:cNvSpPr txBox="1"/>
          <p:nvPr/>
        </p:nvSpPr>
        <p:spPr>
          <a:xfrm>
            <a:off x="1234440" y="5157216"/>
            <a:ext cx="804672" cy="256032"/>
          </a:xfrm>
          <a:prstGeom prst="rect">
            <a:avLst/>
          </a:prstGeom>
          <a:noFill/>
        </p:spPr>
        <p:txBody>
          <a:bodyPr wrap="square">
            <a:spAutoFit/>
          </a:bodyPr>
          <a:lstStyle/>
          <a:p>
            <a:pPr algn="l"/>
            <a:r>
              <a:rPr sz="950" b="1" i="0">
                <a:solidFill>
                  <a:srgbClr val="F43F5E"/>
                </a:solidFill>
                <a:latin typeface="Segoe UI"/>
              </a:rPr>
              <a:t>Problem:</a:t>
            </a:r>
          </a:p>
        </p:txBody>
      </p:sp>
      <p:sp>
        <p:nvSpPr>
          <p:cNvPr id="32" name="TextBox 31"/>
          <p:cNvSpPr txBox="1"/>
          <p:nvPr/>
        </p:nvSpPr>
        <p:spPr>
          <a:xfrm>
            <a:off x="2084831" y="5157216"/>
            <a:ext cx="3931920" cy="256032"/>
          </a:xfrm>
          <a:prstGeom prst="rect">
            <a:avLst/>
          </a:prstGeom>
          <a:noFill/>
        </p:spPr>
        <p:txBody>
          <a:bodyPr wrap="square">
            <a:spAutoFit/>
          </a:bodyPr>
          <a:lstStyle/>
          <a:p>
            <a:pPr algn="l"/>
            <a:r>
              <a:rPr sz="950" b="0" i="0">
                <a:solidFill>
                  <a:srgbClr val="A8B4CF"/>
                </a:solidFill>
                <a:latin typeface="Segoe UI"/>
              </a:rPr>
              <a:t>Updating a streaming placeholder in Zustand required the original message ID -- lost in partial state updates.</a:t>
            </a:r>
          </a:p>
        </p:txBody>
      </p:sp>
      <p:sp>
        <p:nvSpPr>
          <p:cNvPr id="33" name="Rectangle 32"/>
          <p:cNvSpPr/>
          <p:nvPr/>
        </p:nvSpPr>
        <p:spPr>
          <a:xfrm>
            <a:off x="6108192" y="4882896"/>
            <a:ext cx="18288" cy="914400"/>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1072" y="5157216"/>
            <a:ext cx="841248" cy="256032"/>
          </a:xfrm>
          <a:prstGeom prst="rect">
            <a:avLst/>
          </a:prstGeom>
          <a:noFill/>
        </p:spPr>
        <p:txBody>
          <a:bodyPr wrap="square">
            <a:spAutoFit/>
          </a:bodyPr>
          <a:lstStyle/>
          <a:p>
            <a:pPr algn="l"/>
            <a:r>
              <a:rPr sz="950" b="1" i="0">
                <a:solidFill>
                  <a:srgbClr val="10B981"/>
                </a:solidFill>
                <a:latin typeface="Segoe UI"/>
              </a:rPr>
              <a:t>Solution:</a:t>
            </a:r>
          </a:p>
        </p:txBody>
      </p:sp>
      <p:sp>
        <p:nvSpPr>
          <p:cNvPr id="35" name="TextBox 34"/>
          <p:cNvSpPr txBox="1"/>
          <p:nvPr/>
        </p:nvSpPr>
        <p:spPr>
          <a:xfrm>
            <a:off x="7178040" y="5157216"/>
            <a:ext cx="4343400" cy="621792"/>
          </a:xfrm>
          <a:prstGeom prst="rect">
            <a:avLst/>
          </a:prstGeom>
          <a:noFill/>
        </p:spPr>
        <p:txBody>
          <a:bodyPr wrap="square">
            <a:spAutoFit/>
          </a:bodyPr>
          <a:lstStyle/>
          <a:p>
            <a:pPr algn="l"/>
            <a:r>
              <a:rPr sz="950" b="0" i="0">
                <a:solidFill>
                  <a:srgbClr val="A8B4CF"/>
                </a:solidFill>
                <a:latin typeface="Segoe UI"/>
              </a:rPr>
              <a:t>addMessage() accepts complete Message objects. aiMsgId preserved through stream, enabling placeholder -&gt; final swap with zero duplicates.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Evaluation Results</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PubMedQA  *  10-example subset  *  label-mode accuracy (yes / no / maybe)</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44752"/>
            <a:ext cx="2487168" cy="1874519"/>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4752"/>
            <a:ext cx="2487168"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581912"/>
            <a:ext cx="2487168" cy="658368"/>
          </a:xfrm>
          <a:prstGeom prst="rect">
            <a:avLst/>
          </a:prstGeom>
          <a:noFill/>
        </p:spPr>
        <p:txBody>
          <a:bodyPr wrap="square">
            <a:spAutoFit/>
          </a:bodyPr>
          <a:lstStyle/>
          <a:p>
            <a:pPr algn="ctr"/>
            <a:r>
              <a:rPr sz="4200" b="1" i="0">
                <a:solidFill>
                  <a:srgbClr val="F43F5E"/>
                </a:solidFill>
                <a:latin typeface="Segoe UI Semibold"/>
              </a:rPr>
              <a:t>0%</a:t>
            </a:r>
          </a:p>
        </p:txBody>
      </p:sp>
      <p:sp>
        <p:nvSpPr>
          <p:cNvPr id="12" name="TextBox 11"/>
          <p:cNvSpPr txBox="1"/>
          <p:nvPr/>
        </p:nvSpPr>
        <p:spPr>
          <a:xfrm>
            <a:off x="457200" y="2249424"/>
            <a:ext cx="2487168" cy="384048"/>
          </a:xfrm>
          <a:prstGeom prst="rect">
            <a:avLst/>
          </a:prstGeom>
          <a:noFill/>
        </p:spPr>
        <p:txBody>
          <a:bodyPr wrap="square">
            <a:spAutoFit/>
          </a:bodyPr>
          <a:lstStyle/>
          <a:p>
            <a:pPr algn="ctr"/>
            <a:r>
              <a:rPr sz="1050" b="1" i="0">
                <a:solidFill>
                  <a:srgbClr val="FFFFFF"/>
                </a:solidFill>
                <a:latin typeface="Segoe UI"/>
              </a:rPr>
              <a:t>Heuristic
Label Accuracy</a:t>
            </a:r>
          </a:p>
        </p:txBody>
      </p:sp>
      <p:sp>
        <p:nvSpPr>
          <p:cNvPr id="13" name="TextBox 12"/>
          <p:cNvSpPr txBox="1"/>
          <p:nvPr/>
        </p:nvSpPr>
        <p:spPr>
          <a:xfrm>
            <a:off x="548640" y="2633472"/>
            <a:ext cx="2304288" cy="347472"/>
          </a:xfrm>
          <a:prstGeom prst="rect">
            <a:avLst/>
          </a:prstGeom>
          <a:noFill/>
        </p:spPr>
        <p:txBody>
          <a:bodyPr wrap="square">
            <a:spAutoFit/>
          </a:bodyPr>
          <a:lstStyle/>
          <a:p>
            <a:pPr algn="ctr"/>
            <a:r>
              <a:rPr sz="850" b="0" i="0">
                <a:solidFill>
                  <a:srgbClr val="556688"/>
                </a:solidFill>
                <a:latin typeface="Segoe UI"/>
              </a:rPr>
              <a:t>Keyword pattern matching</a:t>
            </a:r>
          </a:p>
        </p:txBody>
      </p:sp>
      <p:sp>
        <p:nvSpPr>
          <p:cNvPr id="14" name="Rectangle 13"/>
          <p:cNvSpPr/>
          <p:nvPr/>
        </p:nvSpPr>
        <p:spPr>
          <a:xfrm>
            <a:off x="3200400" y="1444752"/>
            <a:ext cx="2487168" cy="1874519"/>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444752"/>
            <a:ext cx="248716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1581912"/>
            <a:ext cx="2487168" cy="658368"/>
          </a:xfrm>
          <a:prstGeom prst="rect">
            <a:avLst/>
          </a:prstGeom>
          <a:noFill/>
        </p:spPr>
        <p:txBody>
          <a:bodyPr wrap="square">
            <a:spAutoFit/>
          </a:bodyPr>
          <a:lstStyle/>
          <a:p>
            <a:pPr algn="ctr"/>
            <a:r>
              <a:rPr sz="4200" b="1" i="0">
                <a:solidFill>
                  <a:srgbClr val="10B981"/>
                </a:solidFill>
                <a:latin typeface="Segoe UI Semibold"/>
              </a:rPr>
              <a:t>20%</a:t>
            </a:r>
          </a:p>
        </p:txBody>
      </p:sp>
      <p:sp>
        <p:nvSpPr>
          <p:cNvPr id="17" name="TextBox 16"/>
          <p:cNvSpPr txBox="1"/>
          <p:nvPr/>
        </p:nvSpPr>
        <p:spPr>
          <a:xfrm>
            <a:off x="3200400" y="2249424"/>
            <a:ext cx="2487168" cy="384048"/>
          </a:xfrm>
          <a:prstGeom prst="rect">
            <a:avLst/>
          </a:prstGeom>
          <a:noFill/>
        </p:spPr>
        <p:txBody>
          <a:bodyPr wrap="square">
            <a:spAutoFit/>
          </a:bodyPr>
          <a:lstStyle/>
          <a:p>
            <a:pPr algn="ctr"/>
            <a:r>
              <a:rPr sz="1050" b="1" i="0">
                <a:solidFill>
                  <a:srgbClr val="FFFFFF"/>
                </a:solidFill>
                <a:latin typeface="Segoe UI"/>
              </a:rPr>
              <a:t>Self-RAG 7B
Label Accuracy</a:t>
            </a:r>
          </a:p>
        </p:txBody>
      </p:sp>
      <p:sp>
        <p:nvSpPr>
          <p:cNvPr id="18" name="TextBox 17"/>
          <p:cNvSpPr txBox="1"/>
          <p:nvPr/>
        </p:nvSpPr>
        <p:spPr>
          <a:xfrm>
            <a:off x="3291840" y="2633472"/>
            <a:ext cx="2304288" cy="347472"/>
          </a:xfrm>
          <a:prstGeom prst="rect">
            <a:avLst/>
          </a:prstGeom>
          <a:noFill/>
        </p:spPr>
        <p:txBody>
          <a:bodyPr wrap="square">
            <a:spAutoFit/>
          </a:bodyPr>
          <a:lstStyle/>
          <a:p>
            <a:pPr algn="ctr"/>
            <a:r>
              <a:rPr sz="850" b="0" i="0">
                <a:solidFill>
                  <a:srgbClr val="556688"/>
                </a:solidFill>
                <a:latin typeface="Segoe UI"/>
              </a:rPr>
              <a:t>HF LLaMA-2 on NVIDIA A40</a:t>
            </a:r>
          </a:p>
        </p:txBody>
      </p:sp>
      <p:sp>
        <p:nvSpPr>
          <p:cNvPr id="19" name="Rectangle 18"/>
          <p:cNvSpPr/>
          <p:nvPr/>
        </p:nvSpPr>
        <p:spPr>
          <a:xfrm>
            <a:off x="5943600" y="1444752"/>
            <a:ext cx="2487168" cy="1874519"/>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43600" y="1444752"/>
            <a:ext cx="2487168"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0" y="1581912"/>
            <a:ext cx="2487168" cy="658368"/>
          </a:xfrm>
          <a:prstGeom prst="rect">
            <a:avLst/>
          </a:prstGeom>
          <a:noFill/>
        </p:spPr>
        <p:txBody>
          <a:bodyPr wrap="square">
            <a:spAutoFit/>
          </a:bodyPr>
          <a:lstStyle/>
          <a:p>
            <a:pPr algn="ctr"/>
            <a:r>
              <a:rPr sz="4200" b="1" i="0">
                <a:solidFill>
                  <a:srgbClr val="06B6D4"/>
                </a:solidFill>
                <a:latin typeface="Segoe UI Semibold"/>
              </a:rPr>
              <a:t>&lt;100ms</a:t>
            </a:r>
          </a:p>
        </p:txBody>
      </p:sp>
      <p:sp>
        <p:nvSpPr>
          <p:cNvPr id="22" name="TextBox 21"/>
          <p:cNvSpPr txBox="1"/>
          <p:nvPr/>
        </p:nvSpPr>
        <p:spPr>
          <a:xfrm>
            <a:off x="5943600" y="2249424"/>
            <a:ext cx="2487168" cy="384048"/>
          </a:xfrm>
          <a:prstGeom prst="rect">
            <a:avLst/>
          </a:prstGeom>
          <a:noFill/>
        </p:spPr>
        <p:txBody>
          <a:bodyPr wrap="square">
            <a:spAutoFit/>
          </a:bodyPr>
          <a:lstStyle/>
          <a:p>
            <a:pPr algn="ctr"/>
            <a:r>
              <a:rPr sz="1050" b="1" i="0">
                <a:solidFill>
                  <a:srgbClr val="FFFFFF"/>
                </a:solidFill>
                <a:latin typeface="Segoe UI"/>
              </a:rPr>
              <a:t>Retrieval
Latency</a:t>
            </a:r>
          </a:p>
        </p:txBody>
      </p:sp>
      <p:sp>
        <p:nvSpPr>
          <p:cNvPr id="23" name="TextBox 22"/>
          <p:cNvSpPr txBox="1"/>
          <p:nvPr/>
        </p:nvSpPr>
        <p:spPr>
          <a:xfrm>
            <a:off x="6035040" y="2633472"/>
            <a:ext cx="2304288" cy="347472"/>
          </a:xfrm>
          <a:prstGeom prst="rect">
            <a:avLst/>
          </a:prstGeom>
          <a:noFill/>
        </p:spPr>
        <p:txBody>
          <a:bodyPr wrap="square">
            <a:spAutoFit/>
          </a:bodyPr>
          <a:lstStyle/>
          <a:p>
            <a:pPr algn="ctr"/>
            <a:r>
              <a:rPr sz="850" b="0" i="0">
                <a:solidFill>
                  <a:srgbClr val="556688"/>
                </a:solidFill>
                <a:latin typeface="Segoe UI"/>
              </a:rPr>
              <a:t>BM25 + Blake2b on CPU</a:t>
            </a:r>
          </a:p>
        </p:txBody>
      </p:sp>
      <p:sp>
        <p:nvSpPr>
          <p:cNvPr id="24" name="Rectangle 23"/>
          <p:cNvSpPr/>
          <p:nvPr/>
        </p:nvSpPr>
        <p:spPr>
          <a:xfrm>
            <a:off x="8686800" y="1444752"/>
            <a:ext cx="2487168" cy="1874519"/>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0" y="1444752"/>
            <a:ext cx="248716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0" y="1581912"/>
            <a:ext cx="2487168" cy="658368"/>
          </a:xfrm>
          <a:prstGeom prst="rect">
            <a:avLst/>
          </a:prstGeom>
          <a:noFill/>
        </p:spPr>
        <p:txBody>
          <a:bodyPr wrap="square">
            <a:spAutoFit/>
          </a:bodyPr>
          <a:lstStyle/>
          <a:p>
            <a:pPr algn="ctr"/>
            <a:r>
              <a:rPr sz="4200" b="1" i="0">
                <a:solidFill>
                  <a:srgbClr val="F59E0B"/>
                </a:solidFill>
                <a:latin typeface="Segoe UI Semibold"/>
              </a:rPr>
              <a:t>&lt;1s</a:t>
            </a:r>
          </a:p>
        </p:txBody>
      </p:sp>
      <p:sp>
        <p:nvSpPr>
          <p:cNvPr id="27" name="TextBox 26"/>
          <p:cNvSpPr txBox="1"/>
          <p:nvPr/>
        </p:nvSpPr>
        <p:spPr>
          <a:xfrm>
            <a:off x="8686800" y="2249424"/>
            <a:ext cx="2487168" cy="384048"/>
          </a:xfrm>
          <a:prstGeom prst="rect">
            <a:avLst/>
          </a:prstGeom>
          <a:noFill/>
        </p:spPr>
        <p:txBody>
          <a:bodyPr wrap="square">
            <a:spAutoFit/>
          </a:bodyPr>
          <a:lstStyle/>
          <a:p>
            <a:pPr algn="ctr"/>
            <a:r>
              <a:rPr sz="1050" b="1" i="0">
                <a:solidFill>
                  <a:srgbClr val="FFFFFF"/>
                </a:solidFill>
                <a:latin typeface="Segoe UI"/>
              </a:rPr>
              <a:t>Full Pipeline
Response</a:t>
            </a:r>
          </a:p>
        </p:txBody>
      </p:sp>
      <p:sp>
        <p:nvSpPr>
          <p:cNvPr id="28" name="TextBox 27"/>
          <p:cNvSpPr txBox="1"/>
          <p:nvPr/>
        </p:nvSpPr>
        <p:spPr>
          <a:xfrm>
            <a:off x="8778240" y="2633472"/>
            <a:ext cx="2304288" cy="347472"/>
          </a:xfrm>
          <a:prstGeom prst="rect">
            <a:avLst/>
          </a:prstGeom>
          <a:noFill/>
        </p:spPr>
        <p:txBody>
          <a:bodyPr wrap="square">
            <a:spAutoFit/>
          </a:bodyPr>
          <a:lstStyle/>
          <a:p>
            <a:pPr algn="ctr"/>
            <a:r>
              <a:rPr sz="850" b="0" i="0">
                <a:solidFill>
                  <a:srgbClr val="556688"/>
                </a:solidFill>
                <a:latin typeface="Segoe UI"/>
              </a:rPr>
              <a:t>Heuristic backend on laptop</a:t>
            </a:r>
          </a:p>
        </p:txBody>
      </p:sp>
      <p:sp>
        <p:nvSpPr>
          <p:cNvPr id="29" name="TextBox 28"/>
          <p:cNvSpPr txBox="1"/>
          <p:nvPr/>
        </p:nvSpPr>
        <p:spPr>
          <a:xfrm>
            <a:off x="2834640" y="2240280"/>
            <a:ext cx="960120" cy="320040"/>
          </a:xfrm>
          <a:prstGeom prst="rect">
            <a:avLst/>
          </a:prstGeom>
          <a:noFill/>
        </p:spPr>
        <p:txBody>
          <a:bodyPr wrap="square">
            <a:spAutoFit/>
          </a:bodyPr>
          <a:lstStyle/>
          <a:p>
            <a:pPr algn="ctr"/>
            <a:r>
              <a:rPr sz="1000" b="1" i="0">
                <a:solidFill>
                  <a:srgbClr val="10B981"/>
                </a:solidFill>
                <a:latin typeface="Segoe UI"/>
              </a:rPr>
              <a:t>+20 pp</a:t>
            </a:r>
          </a:p>
        </p:txBody>
      </p:sp>
      <p:graphicFrame>
        <p:nvGraphicFramePr>
          <p:cNvPr id="30" name="Chart 29"/>
          <p:cNvGraphicFramePr>
            <a:graphicFrameLocks noGrp="1"/>
          </p:cNvGraphicFramePr>
          <p:nvPr/>
        </p:nvGraphicFramePr>
        <p:xfrm>
          <a:off x="6858000" y="1481328"/>
          <a:ext cx="5029200" cy="3200400"/>
        </p:xfrm>
        <a:graphic>
          <a:graphicData uri="http://schemas.openxmlformats.org/drawingml/2006/chart">
            <c:chart xmlns:c="http://schemas.openxmlformats.org/drawingml/2006/chart" r:id="rId2"/>
          </a:graphicData>
        </a:graphic>
      </p:graphicFrame>
      <p:sp>
        <p:nvSpPr>
          <p:cNvPr id="31" name="Rectangle 30"/>
          <p:cNvSpPr/>
          <p:nvPr/>
        </p:nvSpPr>
        <p:spPr>
          <a:xfrm>
            <a:off x="457200" y="3520440"/>
            <a:ext cx="11247120" cy="2697480"/>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3520440"/>
            <a:ext cx="50292" cy="2697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3611880"/>
            <a:ext cx="10515600" cy="320040"/>
          </a:xfrm>
          <a:prstGeom prst="rect">
            <a:avLst/>
          </a:prstGeom>
          <a:noFill/>
        </p:spPr>
        <p:txBody>
          <a:bodyPr wrap="square">
            <a:spAutoFit/>
          </a:bodyPr>
          <a:lstStyle/>
          <a:p>
            <a:pPr algn="l"/>
            <a:r>
              <a:rPr sz="1200" b="1" i="0">
                <a:solidFill>
                  <a:srgbClr val="10B981"/>
                </a:solidFill>
                <a:latin typeface="Segoe UI"/>
              </a:rPr>
              <a:t>Evaluation Notes</a:t>
            </a:r>
          </a:p>
        </p:txBody>
      </p:sp>
      <p:sp>
        <p:nvSpPr>
          <p:cNvPr id="34" name="TextBox 33"/>
          <p:cNvSpPr txBox="1"/>
          <p:nvPr/>
        </p:nvSpPr>
        <p:spPr>
          <a:xfrm>
            <a:off x="658368" y="4005072"/>
            <a:ext cx="1965960" cy="274320"/>
          </a:xfrm>
          <a:prstGeom prst="rect">
            <a:avLst/>
          </a:prstGeom>
          <a:noFill/>
        </p:spPr>
        <p:txBody>
          <a:bodyPr wrap="square">
            <a:spAutoFit/>
          </a:bodyPr>
          <a:lstStyle/>
          <a:p>
            <a:pPr algn="l"/>
            <a:r>
              <a:rPr sz="1000" b="1" i="0">
                <a:solidFill>
                  <a:srgbClr val="06B6D4"/>
                </a:solidFill>
                <a:latin typeface="Segoe UI"/>
              </a:rPr>
              <a:t>Why label-mode?</a:t>
            </a:r>
          </a:p>
        </p:txBody>
      </p:sp>
      <p:sp>
        <p:nvSpPr>
          <p:cNvPr id="35" name="TextBox 34"/>
          <p:cNvSpPr txBox="1"/>
          <p:nvPr/>
        </p:nvSpPr>
        <p:spPr>
          <a:xfrm>
            <a:off x="2670048" y="4005072"/>
            <a:ext cx="8778240" cy="274320"/>
          </a:xfrm>
          <a:prstGeom prst="rect">
            <a:avLst/>
          </a:prstGeom>
          <a:noFill/>
        </p:spPr>
        <p:txBody>
          <a:bodyPr wrap="square">
            <a:spAutoFit/>
          </a:bodyPr>
          <a:lstStyle/>
          <a:p>
            <a:pPr algn="l"/>
            <a:r>
              <a:rPr sz="1000" b="0" i="0">
                <a:solidFill>
                  <a:srgbClr val="A8B4CF"/>
                </a:solidFill>
                <a:latin typeface="Segoe UI"/>
              </a:rPr>
              <a:t>PubMedQA was designed around yes/no/maybe labels -- the metric the authors specify.</a:t>
            </a:r>
          </a:p>
        </p:txBody>
      </p:sp>
      <p:sp>
        <p:nvSpPr>
          <p:cNvPr id="36" name="Rectangle 35"/>
          <p:cNvSpPr/>
          <p:nvPr/>
        </p:nvSpPr>
        <p:spPr>
          <a:xfrm>
            <a:off x="658368" y="4425696"/>
            <a:ext cx="1078992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4553712"/>
            <a:ext cx="1965960" cy="274320"/>
          </a:xfrm>
          <a:prstGeom prst="rect">
            <a:avLst/>
          </a:prstGeom>
          <a:noFill/>
        </p:spPr>
        <p:txBody>
          <a:bodyPr wrap="square">
            <a:spAutoFit/>
          </a:bodyPr>
          <a:lstStyle/>
          <a:p>
            <a:pPr algn="l"/>
            <a:r>
              <a:rPr sz="1000" b="1" i="0">
                <a:solidFill>
                  <a:srgbClr val="06B6D4"/>
                </a:solidFill>
                <a:latin typeface="Segoe UI"/>
              </a:rPr>
              <a:t>Why not token F1?</a:t>
            </a:r>
          </a:p>
        </p:txBody>
      </p:sp>
      <p:sp>
        <p:nvSpPr>
          <p:cNvPr id="38" name="TextBox 37"/>
          <p:cNvSpPr txBox="1"/>
          <p:nvPr/>
        </p:nvSpPr>
        <p:spPr>
          <a:xfrm>
            <a:off x="2670048" y="4553712"/>
            <a:ext cx="8778240" cy="274320"/>
          </a:xfrm>
          <a:prstGeom prst="rect">
            <a:avLst/>
          </a:prstGeom>
          <a:noFill/>
        </p:spPr>
        <p:txBody>
          <a:bodyPr wrap="square">
            <a:spAutoFit/>
          </a:bodyPr>
          <a:lstStyle/>
          <a:p>
            <a:pPr algn="l"/>
            <a:r>
              <a:rPr sz="1000" b="0" i="0">
                <a:solidFill>
                  <a:srgbClr val="A8B4CF"/>
                </a:solidFill>
                <a:latin typeface="Segoe UI"/>
              </a:rPr>
              <a:t>Gold answers are long rationales; Self-RAG emits concise reflection-prefixed output. F1 penalises brevity.</a:t>
            </a:r>
          </a:p>
        </p:txBody>
      </p:sp>
      <p:sp>
        <p:nvSpPr>
          <p:cNvPr id="39" name="Rectangle 38"/>
          <p:cNvSpPr/>
          <p:nvPr/>
        </p:nvSpPr>
        <p:spPr>
          <a:xfrm>
            <a:off x="658368" y="4974336"/>
            <a:ext cx="1078992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102352"/>
            <a:ext cx="1965960" cy="274320"/>
          </a:xfrm>
          <a:prstGeom prst="rect">
            <a:avLst/>
          </a:prstGeom>
          <a:noFill/>
        </p:spPr>
        <p:txBody>
          <a:bodyPr wrap="square">
            <a:spAutoFit/>
          </a:bodyPr>
          <a:lstStyle/>
          <a:p>
            <a:pPr algn="l"/>
            <a:r>
              <a:rPr sz="1000" b="1" i="0">
                <a:solidFill>
                  <a:srgbClr val="06B6D4"/>
                </a:solidFill>
                <a:latin typeface="Segoe UI"/>
              </a:rPr>
              <a:t>GPU runtime:</a:t>
            </a:r>
          </a:p>
        </p:txBody>
      </p:sp>
      <p:sp>
        <p:nvSpPr>
          <p:cNvPr id="41" name="TextBox 40"/>
          <p:cNvSpPr txBox="1"/>
          <p:nvPr/>
        </p:nvSpPr>
        <p:spPr>
          <a:xfrm>
            <a:off x="2670048" y="5102352"/>
            <a:ext cx="8778240" cy="274320"/>
          </a:xfrm>
          <a:prstGeom prst="rect">
            <a:avLst/>
          </a:prstGeom>
          <a:noFill/>
        </p:spPr>
        <p:txBody>
          <a:bodyPr wrap="square">
            <a:spAutoFit/>
          </a:bodyPr>
          <a:lstStyle/>
          <a:p>
            <a:pPr algn="l"/>
            <a:r>
              <a:rPr sz="1000" b="0" i="0">
                <a:solidFill>
                  <a:srgbClr val="A8B4CF"/>
                </a:solidFill>
                <a:latin typeface="Segoe UI"/>
              </a:rPr>
              <a:t>HF Self-RAG 7B on NVIDIA A40 (24GB): ~53s/query. Heuristic: &lt;1s on CPU. Same retrieval layer.</a:t>
            </a:r>
          </a:p>
        </p:txBody>
      </p:sp>
      <p:sp>
        <p:nvSpPr>
          <p:cNvPr id="42" name="Rectangle 41"/>
          <p:cNvSpPr/>
          <p:nvPr/>
        </p:nvSpPr>
        <p:spPr>
          <a:xfrm>
            <a:off x="658368" y="5522976"/>
            <a:ext cx="10789920" cy="10972"/>
          </a:xfrm>
          <a:prstGeom prst="rect">
            <a:avLst/>
          </a:prstGeom>
          <a:solidFill>
            <a:srgbClr val="25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GPU Evaluation Evidence</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NVIDIA A40 (24GB)  --  RunPod cloud  --  all screenshots captured live</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pic>
        <p:nvPicPr>
          <p:cNvPr id="9" name="Picture 8" descr="image.png"/>
          <p:cNvPicPr>
            <a:picLocks noChangeAspect="1"/>
          </p:cNvPicPr>
          <p:nvPr/>
        </p:nvPicPr>
        <p:blipFill>
          <a:blip r:embed="rId2"/>
          <a:stretch>
            <a:fillRect/>
          </a:stretch>
        </p:blipFill>
        <p:spPr>
          <a:xfrm>
            <a:off x="457200" y="1444752"/>
            <a:ext cx="2670048" cy="1655325"/>
          </a:xfrm>
          <a:prstGeom prst="rect">
            <a:avLst/>
          </a:prstGeom>
        </p:spPr>
      </p:pic>
      <p:sp>
        <p:nvSpPr>
          <p:cNvPr id="10" name="Rectangle 9"/>
          <p:cNvSpPr/>
          <p:nvPr/>
        </p:nvSpPr>
        <p:spPr>
          <a:xfrm>
            <a:off x="457200" y="4956048"/>
            <a:ext cx="2670048" cy="47548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029200"/>
            <a:ext cx="2450592" cy="347472"/>
          </a:xfrm>
          <a:prstGeom prst="rect">
            <a:avLst/>
          </a:prstGeom>
          <a:noFill/>
        </p:spPr>
        <p:txBody>
          <a:bodyPr wrap="square">
            <a:spAutoFit/>
          </a:bodyPr>
          <a:lstStyle/>
          <a:p>
            <a:pPr algn="l"/>
            <a:r>
              <a:rPr sz="800" b="0" i="1">
                <a:solidFill>
                  <a:srgbClr val="A8B4CF"/>
                </a:solidFill>
                <a:latin typeface="Segoe UI"/>
              </a:rPr>
              <a:t>nvidia-smi -- NVIDIA A40 (24GB), CUDA 12.4 confirmed</a:t>
            </a:r>
          </a:p>
        </p:txBody>
      </p:sp>
      <p:pic>
        <p:nvPicPr>
          <p:cNvPr id="12" name="Picture 11" descr="image.png"/>
          <p:cNvPicPr>
            <a:picLocks noChangeAspect="1"/>
          </p:cNvPicPr>
          <p:nvPr/>
        </p:nvPicPr>
        <p:blipFill>
          <a:blip r:embed="rId3"/>
          <a:stretch>
            <a:fillRect/>
          </a:stretch>
        </p:blipFill>
        <p:spPr>
          <a:xfrm>
            <a:off x="3328416" y="1444752"/>
            <a:ext cx="2670048" cy="989721"/>
          </a:xfrm>
          <a:prstGeom prst="rect">
            <a:avLst/>
          </a:prstGeom>
        </p:spPr>
      </p:pic>
      <p:sp>
        <p:nvSpPr>
          <p:cNvPr id="13" name="Rectangle 12"/>
          <p:cNvSpPr/>
          <p:nvPr/>
        </p:nvSpPr>
        <p:spPr>
          <a:xfrm>
            <a:off x="3328416" y="4956048"/>
            <a:ext cx="2670048" cy="47548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5029200"/>
            <a:ext cx="2450592" cy="347472"/>
          </a:xfrm>
          <a:prstGeom prst="rect">
            <a:avLst/>
          </a:prstGeom>
          <a:noFill/>
        </p:spPr>
        <p:txBody>
          <a:bodyPr wrap="square">
            <a:spAutoFit/>
          </a:bodyPr>
          <a:lstStyle/>
          <a:p>
            <a:pPr algn="l"/>
            <a:r>
              <a:rPr sz="800" b="0" i="1">
                <a:solidFill>
                  <a:srgbClr val="A8B4CF"/>
                </a:solidFill>
                <a:latin typeface="Segoe UI"/>
              </a:rPr>
              <a:t>Index build -- 1,000 PubMedQA passages tokenised and embedded</a:t>
            </a:r>
          </a:p>
        </p:txBody>
      </p:sp>
      <p:pic>
        <p:nvPicPr>
          <p:cNvPr id="15" name="Picture 14" descr="image.png"/>
          <p:cNvPicPr>
            <a:picLocks noChangeAspect="1"/>
          </p:cNvPicPr>
          <p:nvPr/>
        </p:nvPicPr>
        <p:blipFill>
          <a:blip r:embed="rId4"/>
          <a:stretch>
            <a:fillRect/>
          </a:stretch>
        </p:blipFill>
        <p:spPr>
          <a:xfrm>
            <a:off x="6199632" y="1444752"/>
            <a:ext cx="2670048" cy="757716"/>
          </a:xfrm>
          <a:prstGeom prst="rect">
            <a:avLst/>
          </a:prstGeom>
        </p:spPr>
      </p:pic>
      <p:sp>
        <p:nvSpPr>
          <p:cNvPr id="16" name="Rectangle 15"/>
          <p:cNvSpPr/>
          <p:nvPr/>
        </p:nvSpPr>
        <p:spPr>
          <a:xfrm>
            <a:off x="6199632" y="4956048"/>
            <a:ext cx="2670048" cy="47548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5029200"/>
            <a:ext cx="2450592" cy="347472"/>
          </a:xfrm>
          <a:prstGeom prst="rect">
            <a:avLst/>
          </a:prstGeom>
          <a:noFill/>
        </p:spPr>
        <p:txBody>
          <a:bodyPr wrap="square">
            <a:spAutoFit/>
          </a:bodyPr>
          <a:lstStyle/>
          <a:p>
            <a:pPr algn="l"/>
            <a:r>
              <a:rPr sz="800" b="0" i="1">
                <a:solidFill>
                  <a:srgbClr val="A8B4CF"/>
                </a:solidFill>
                <a:latin typeface="Segoe UI"/>
              </a:rPr>
              <a:t>Self-RAG 7B inference -- reflection tokens visible in output</a:t>
            </a:r>
          </a:p>
        </p:txBody>
      </p:sp>
      <p:pic>
        <p:nvPicPr>
          <p:cNvPr id="18" name="Picture 17" descr="image.png"/>
          <p:cNvPicPr>
            <a:picLocks noChangeAspect="1"/>
          </p:cNvPicPr>
          <p:nvPr/>
        </p:nvPicPr>
        <p:blipFill>
          <a:blip r:embed="rId5"/>
          <a:stretch>
            <a:fillRect/>
          </a:stretch>
        </p:blipFill>
        <p:spPr>
          <a:xfrm>
            <a:off x="9070848" y="1444752"/>
            <a:ext cx="2670048" cy="1655263"/>
          </a:xfrm>
          <a:prstGeom prst="rect">
            <a:avLst/>
          </a:prstGeom>
        </p:spPr>
      </p:pic>
      <p:sp>
        <p:nvSpPr>
          <p:cNvPr id="19" name="Rectangle 18"/>
          <p:cNvSpPr/>
          <p:nvPr/>
        </p:nvSpPr>
        <p:spPr>
          <a:xfrm>
            <a:off x="9070848" y="4956048"/>
            <a:ext cx="2670048" cy="475488"/>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0576" y="5029200"/>
            <a:ext cx="2450592" cy="347472"/>
          </a:xfrm>
          <a:prstGeom prst="rect">
            <a:avLst/>
          </a:prstGeom>
          <a:noFill/>
        </p:spPr>
        <p:txBody>
          <a:bodyPr wrap="square">
            <a:spAutoFit/>
          </a:bodyPr>
          <a:lstStyle/>
          <a:p>
            <a:pPr algn="l"/>
            <a:r>
              <a:rPr sz="800" b="0" i="1">
                <a:solidFill>
                  <a:srgbClr val="A8B4CF"/>
                </a:solidFill>
                <a:latin typeface="Segoe UI"/>
              </a:rPr>
              <a:t>Evaluation summary -- label-mode accuracy results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Competitive Positioning</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BioResearch OS vs. existing biomedical AI tools across 8 dimensions</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17320"/>
            <a:ext cx="274320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53896"/>
            <a:ext cx="2560320" cy="402336"/>
          </a:xfrm>
          <a:prstGeom prst="rect">
            <a:avLst/>
          </a:prstGeom>
          <a:noFill/>
        </p:spPr>
        <p:txBody>
          <a:bodyPr wrap="square">
            <a:spAutoFit/>
          </a:bodyPr>
          <a:lstStyle/>
          <a:p>
            <a:pPr algn="ctr"/>
            <a:r>
              <a:rPr sz="950" b="1" i="0">
                <a:solidFill>
                  <a:srgbClr val="A8B4CF"/>
                </a:solidFill>
                <a:latin typeface="Segoe UI"/>
              </a:rPr>
              <a:t>Feature</a:t>
            </a:r>
          </a:p>
        </p:txBody>
      </p:sp>
      <p:sp>
        <p:nvSpPr>
          <p:cNvPr id="11" name="Rectangle 10"/>
          <p:cNvSpPr/>
          <p:nvPr/>
        </p:nvSpPr>
        <p:spPr>
          <a:xfrm>
            <a:off x="3200400" y="1417320"/>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453896"/>
            <a:ext cx="1737360" cy="402336"/>
          </a:xfrm>
          <a:prstGeom prst="rect">
            <a:avLst/>
          </a:prstGeom>
          <a:noFill/>
        </p:spPr>
        <p:txBody>
          <a:bodyPr wrap="square">
            <a:spAutoFit/>
          </a:bodyPr>
          <a:lstStyle/>
          <a:p>
            <a:pPr algn="ctr"/>
            <a:r>
              <a:rPr sz="950" b="1" i="0">
                <a:solidFill>
                  <a:srgbClr val="A8B4CF"/>
                </a:solidFill>
                <a:latin typeface="Segoe UI"/>
              </a:rPr>
              <a:t>PubMed
Search</a:t>
            </a:r>
          </a:p>
        </p:txBody>
      </p:sp>
      <p:sp>
        <p:nvSpPr>
          <p:cNvPr id="13" name="Rectangle 12"/>
          <p:cNvSpPr/>
          <p:nvPr/>
        </p:nvSpPr>
        <p:spPr>
          <a:xfrm>
            <a:off x="5120640" y="1417320"/>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453896"/>
            <a:ext cx="1737360" cy="402336"/>
          </a:xfrm>
          <a:prstGeom prst="rect">
            <a:avLst/>
          </a:prstGeom>
          <a:noFill/>
        </p:spPr>
        <p:txBody>
          <a:bodyPr wrap="square">
            <a:spAutoFit/>
          </a:bodyPr>
          <a:lstStyle/>
          <a:p>
            <a:pPr algn="ctr"/>
            <a:r>
              <a:rPr sz="950" b="1" i="0">
                <a:solidFill>
                  <a:srgbClr val="A8B4CF"/>
                </a:solidFill>
                <a:latin typeface="Segoe UI"/>
              </a:rPr>
              <a:t>ChatGPT
/ LLMs</a:t>
            </a:r>
          </a:p>
        </p:txBody>
      </p:sp>
      <p:sp>
        <p:nvSpPr>
          <p:cNvPr id="15" name="Rectangle 14"/>
          <p:cNvSpPr/>
          <p:nvPr/>
        </p:nvSpPr>
        <p:spPr>
          <a:xfrm>
            <a:off x="7040880" y="1417320"/>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1453896"/>
            <a:ext cx="1737360" cy="402336"/>
          </a:xfrm>
          <a:prstGeom prst="rect">
            <a:avLst/>
          </a:prstGeom>
          <a:noFill/>
        </p:spPr>
        <p:txBody>
          <a:bodyPr wrap="square">
            <a:spAutoFit/>
          </a:bodyPr>
          <a:lstStyle/>
          <a:p>
            <a:pPr algn="ctr"/>
            <a:r>
              <a:rPr sz="950" b="1" i="0">
                <a:solidFill>
                  <a:srgbClr val="A8B4CF"/>
                </a:solidFill>
                <a:latin typeface="Segoe UI"/>
              </a:rPr>
              <a:t>Standard
RAG</a:t>
            </a:r>
          </a:p>
        </p:txBody>
      </p:sp>
      <p:sp>
        <p:nvSpPr>
          <p:cNvPr id="17" name="Rectangle 16"/>
          <p:cNvSpPr/>
          <p:nvPr/>
        </p:nvSpPr>
        <p:spPr>
          <a:xfrm>
            <a:off x="8961120" y="1417320"/>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453896"/>
            <a:ext cx="2286000" cy="402336"/>
          </a:xfrm>
          <a:prstGeom prst="rect">
            <a:avLst/>
          </a:prstGeom>
          <a:noFill/>
        </p:spPr>
        <p:txBody>
          <a:bodyPr wrap="square">
            <a:spAutoFit/>
          </a:bodyPr>
          <a:lstStyle/>
          <a:p>
            <a:pPr algn="ctr"/>
            <a:r>
              <a:rPr sz="950" b="1" i="0">
                <a:solidFill>
                  <a:srgbClr val="FFFFFF"/>
                </a:solidFill>
                <a:latin typeface="Segoe UI"/>
              </a:rPr>
              <a:t>BioResearch OS</a:t>
            </a:r>
          </a:p>
        </p:txBody>
      </p:sp>
      <p:sp>
        <p:nvSpPr>
          <p:cNvPr id="19" name="Rectangle 18"/>
          <p:cNvSpPr/>
          <p:nvPr/>
        </p:nvSpPr>
        <p:spPr>
          <a:xfrm>
            <a:off x="457200" y="1892808"/>
            <a:ext cx="274320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84248"/>
            <a:ext cx="2468880" cy="292608"/>
          </a:xfrm>
          <a:prstGeom prst="rect">
            <a:avLst/>
          </a:prstGeom>
          <a:noFill/>
        </p:spPr>
        <p:txBody>
          <a:bodyPr wrap="square">
            <a:spAutoFit/>
          </a:bodyPr>
          <a:lstStyle/>
          <a:p>
            <a:pPr algn="l"/>
            <a:r>
              <a:rPr sz="1050" b="0" i="0">
                <a:solidFill>
                  <a:srgbClr val="FFFFFF"/>
                </a:solidFill>
                <a:latin typeface="Segoe UI"/>
              </a:rPr>
              <a:t>Adaptive retrieval</a:t>
            </a:r>
          </a:p>
        </p:txBody>
      </p:sp>
      <p:sp>
        <p:nvSpPr>
          <p:cNvPr id="21" name="Rectangle 20"/>
          <p:cNvSpPr/>
          <p:nvPr/>
        </p:nvSpPr>
        <p:spPr>
          <a:xfrm>
            <a:off x="3200400" y="1892808"/>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1984248"/>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23" name="Rectangle 22"/>
          <p:cNvSpPr/>
          <p:nvPr/>
        </p:nvSpPr>
        <p:spPr>
          <a:xfrm>
            <a:off x="5120640" y="1892808"/>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1984248"/>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25" name="Rectangle 24"/>
          <p:cNvSpPr/>
          <p:nvPr/>
        </p:nvSpPr>
        <p:spPr>
          <a:xfrm>
            <a:off x="7040880" y="1892808"/>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1984248"/>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27" name="Rectangle 26"/>
          <p:cNvSpPr/>
          <p:nvPr/>
        </p:nvSpPr>
        <p:spPr>
          <a:xfrm>
            <a:off x="8961120" y="1892808"/>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0" y="1984248"/>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29" name="Rectangle 28"/>
          <p:cNvSpPr/>
          <p:nvPr/>
        </p:nvSpPr>
        <p:spPr>
          <a:xfrm>
            <a:off x="457200" y="2368296"/>
            <a:ext cx="274320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459736"/>
            <a:ext cx="2468880" cy="292608"/>
          </a:xfrm>
          <a:prstGeom prst="rect">
            <a:avLst/>
          </a:prstGeom>
          <a:noFill/>
        </p:spPr>
        <p:txBody>
          <a:bodyPr wrap="square">
            <a:spAutoFit/>
          </a:bodyPr>
          <a:lstStyle/>
          <a:p>
            <a:pPr algn="l"/>
            <a:r>
              <a:rPr sz="1050" b="0" i="0">
                <a:solidFill>
                  <a:srgbClr val="FFFFFF"/>
                </a:solidFill>
                <a:latin typeface="Segoe UI"/>
              </a:rPr>
              <a:t>Evidence traceability</a:t>
            </a:r>
          </a:p>
        </p:txBody>
      </p:sp>
      <p:sp>
        <p:nvSpPr>
          <p:cNvPr id="31" name="Rectangle 30"/>
          <p:cNvSpPr/>
          <p:nvPr/>
        </p:nvSpPr>
        <p:spPr>
          <a:xfrm>
            <a:off x="3200400" y="2368296"/>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0" y="245973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33" name="Rectangle 32"/>
          <p:cNvSpPr/>
          <p:nvPr/>
        </p:nvSpPr>
        <p:spPr>
          <a:xfrm>
            <a:off x="5120640" y="2368296"/>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245973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35" name="Rectangle 34"/>
          <p:cNvSpPr/>
          <p:nvPr/>
        </p:nvSpPr>
        <p:spPr>
          <a:xfrm>
            <a:off x="7040880" y="2368296"/>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40880" y="245973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37" name="Rectangle 36"/>
          <p:cNvSpPr/>
          <p:nvPr/>
        </p:nvSpPr>
        <p:spPr>
          <a:xfrm>
            <a:off x="8961120" y="2368296"/>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0" y="2459736"/>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39" name="Rectangle 38"/>
          <p:cNvSpPr/>
          <p:nvPr/>
        </p:nvSpPr>
        <p:spPr>
          <a:xfrm>
            <a:off x="457200" y="2843784"/>
            <a:ext cx="274320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2935224"/>
            <a:ext cx="2468880" cy="292608"/>
          </a:xfrm>
          <a:prstGeom prst="rect">
            <a:avLst/>
          </a:prstGeom>
          <a:noFill/>
        </p:spPr>
        <p:txBody>
          <a:bodyPr wrap="square">
            <a:spAutoFit/>
          </a:bodyPr>
          <a:lstStyle/>
          <a:p>
            <a:pPr algn="l"/>
            <a:r>
              <a:rPr sz="1050" b="0" i="0">
                <a:solidFill>
                  <a:srgbClr val="FFFFFF"/>
                </a:solidFill>
                <a:latin typeface="Segoe UI"/>
              </a:rPr>
              <a:t>Critique scoring</a:t>
            </a:r>
          </a:p>
        </p:txBody>
      </p:sp>
      <p:sp>
        <p:nvSpPr>
          <p:cNvPr id="41" name="Rectangle 40"/>
          <p:cNvSpPr/>
          <p:nvPr/>
        </p:nvSpPr>
        <p:spPr>
          <a:xfrm>
            <a:off x="3200400" y="2843784"/>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0" y="293522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43" name="Rectangle 42"/>
          <p:cNvSpPr/>
          <p:nvPr/>
        </p:nvSpPr>
        <p:spPr>
          <a:xfrm>
            <a:off x="5120640" y="2843784"/>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20640" y="293522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45" name="Rectangle 44"/>
          <p:cNvSpPr/>
          <p:nvPr/>
        </p:nvSpPr>
        <p:spPr>
          <a:xfrm>
            <a:off x="7040880" y="2843784"/>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40880" y="293522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47" name="Rectangle 46"/>
          <p:cNvSpPr/>
          <p:nvPr/>
        </p:nvSpPr>
        <p:spPr>
          <a:xfrm>
            <a:off x="8961120" y="2843784"/>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0" y="2935224"/>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49" name="Rectangle 48"/>
          <p:cNvSpPr/>
          <p:nvPr/>
        </p:nvSpPr>
        <p:spPr>
          <a:xfrm>
            <a:off x="457200" y="3319272"/>
            <a:ext cx="274320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3410712"/>
            <a:ext cx="2468880" cy="292608"/>
          </a:xfrm>
          <a:prstGeom prst="rect">
            <a:avLst/>
          </a:prstGeom>
          <a:noFill/>
        </p:spPr>
        <p:txBody>
          <a:bodyPr wrap="square">
            <a:spAutoFit/>
          </a:bodyPr>
          <a:lstStyle/>
          <a:p>
            <a:pPr algn="l"/>
            <a:r>
              <a:rPr sz="1050" b="0" i="0">
                <a:solidFill>
                  <a:srgbClr val="FFFFFF"/>
                </a:solidFill>
                <a:latin typeface="Segoe UI"/>
              </a:rPr>
              <a:t>CPU compatible</a:t>
            </a:r>
          </a:p>
        </p:txBody>
      </p:sp>
      <p:sp>
        <p:nvSpPr>
          <p:cNvPr id="51" name="Rectangle 50"/>
          <p:cNvSpPr/>
          <p:nvPr/>
        </p:nvSpPr>
        <p:spPr>
          <a:xfrm>
            <a:off x="3200400" y="3319272"/>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00400" y="3410712"/>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53" name="Rectangle 52"/>
          <p:cNvSpPr/>
          <p:nvPr/>
        </p:nvSpPr>
        <p:spPr>
          <a:xfrm>
            <a:off x="5120640" y="3319272"/>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20640" y="3410712"/>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55" name="Rectangle 54"/>
          <p:cNvSpPr/>
          <p:nvPr/>
        </p:nvSpPr>
        <p:spPr>
          <a:xfrm>
            <a:off x="7040880" y="3319272"/>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040880" y="3410712"/>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57" name="Rectangle 56"/>
          <p:cNvSpPr/>
          <p:nvPr/>
        </p:nvSpPr>
        <p:spPr>
          <a:xfrm>
            <a:off x="8961120" y="3319272"/>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0" y="3410712"/>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59" name="Rectangle 58"/>
          <p:cNvSpPr/>
          <p:nvPr/>
        </p:nvSpPr>
        <p:spPr>
          <a:xfrm>
            <a:off x="457200" y="3794760"/>
            <a:ext cx="274320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3886200"/>
            <a:ext cx="2468880" cy="292608"/>
          </a:xfrm>
          <a:prstGeom prst="rect">
            <a:avLst/>
          </a:prstGeom>
          <a:noFill/>
        </p:spPr>
        <p:txBody>
          <a:bodyPr wrap="square">
            <a:spAutoFit/>
          </a:bodyPr>
          <a:lstStyle/>
          <a:p>
            <a:pPr algn="l"/>
            <a:r>
              <a:rPr sz="1050" b="0" i="0">
                <a:solidFill>
                  <a:srgbClr val="FFFFFF"/>
                </a:solidFill>
                <a:latin typeface="Segoe UI"/>
              </a:rPr>
              <a:t>Open source</a:t>
            </a:r>
          </a:p>
        </p:txBody>
      </p:sp>
      <p:sp>
        <p:nvSpPr>
          <p:cNvPr id="61" name="Rectangle 60"/>
          <p:cNvSpPr/>
          <p:nvPr/>
        </p:nvSpPr>
        <p:spPr>
          <a:xfrm>
            <a:off x="3200400" y="3794760"/>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00400" y="3886200"/>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63" name="Rectangle 62"/>
          <p:cNvSpPr/>
          <p:nvPr/>
        </p:nvSpPr>
        <p:spPr>
          <a:xfrm>
            <a:off x="5120640" y="3794760"/>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120640" y="3886200"/>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65" name="Rectangle 64"/>
          <p:cNvSpPr/>
          <p:nvPr/>
        </p:nvSpPr>
        <p:spPr>
          <a:xfrm>
            <a:off x="7040880" y="3794760"/>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040880" y="3886200"/>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67" name="Rectangle 66"/>
          <p:cNvSpPr/>
          <p:nvPr/>
        </p:nvSpPr>
        <p:spPr>
          <a:xfrm>
            <a:off x="8961120" y="3794760"/>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61120" y="3886200"/>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69" name="Rectangle 68"/>
          <p:cNvSpPr/>
          <p:nvPr/>
        </p:nvSpPr>
        <p:spPr>
          <a:xfrm>
            <a:off x="457200" y="4270248"/>
            <a:ext cx="274320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 y="4361688"/>
            <a:ext cx="2468880" cy="292608"/>
          </a:xfrm>
          <a:prstGeom prst="rect">
            <a:avLst/>
          </a:prstGeom>
          <a:noFill/>
        </p:spPr>
        <p:txBody>
          <a:bodyPr wrap="square">
            <a:spAutoFit/>
          </a:bodyPr>
          <a:lstStyle/>
          <a:p>
            <a:pPr algn="l"/>
            <a:r>
              <a:rPr sz="1050" b="0" i="0">
                <a:solidFill>
                  <a:srgbClr val="FFFFFF"/>
                </a:solidFill>
                <a:latin typeface="Segoe UI"/>
              </a:rPr>
              <a:t>Real-time response</a:t>
            </a:r>
          </a:p>
        </p:txBody>
      </p:sp>
      <p:sp>
        <p:nvSpPr>
          <p:cNvPr id="71" name="Rectangle 70"/>
          <p:cNvSpPr/>
          <p:nvPr/>
        </p:nvSpPr>
        <p:spPr>
          <a:xfrm>
            <a:off x="3200400" y="4270248"/>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00400" y="4361688"/>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73" name="Rectangle 72"/>
          <p:cNvSpPr/>
          <p:nvPr/>
        </p:nvSpPr>
        <p:spPr>
          <a:xfrm>
            <a:off x="5120640" y="4270248"/>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20640" y="4361688"/>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75" name="Rectangle 74"/>
          <p:cNvSpPr/>
          <p:nvPr/>
        </p:nvSpPr>
        <p:spPr>
          <a:xfrm>
            <a:off x="7040880" y="4270248"/>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040880" y="4361688"/>
            <a:ext cx="1920240" cy="292608"/>
          </a:xfrm>
          <a:prstGeom prst="rect">
            <a:avLst/>
          </a:prstGeom>
          <a:noFill/>
        </p:spPr>
        <p:txBody>
          <a:bodyPr wrap="square">
            <a:spAutoFit/>
          </a:bodyPr>
          <a:lstStyle/>
          <a:p>
            <a:pPr algn="ctr"/>
            <a:r>
              <a:rPr sz="1100" b="0" i="0">
                <a:solidFill>
                  <a:srgbClr val="448855"/>
                </a:solidFill>
                <a:latin typeface="Segoe UI"/>
              </a:rPr>
              <a:t>Yes</a:t>
            </a:r>
          </a:p>
        </p:txBody>
      </p:sp>
      <p:sp>
        <p:nvSpPr>
          <p:cNvPr id="77" name="Rectangle 76"/>
          <p:cNvSpPr/>
          <p:nvPr/>
        </p:nvSpPr>
        <p:spPr>
          <a:xfrm>
            <a:off x="8961120" y="4270248"/>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961120" y="4361688"/>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79" name="Rectangle 78"/>
          <p:cNvSpPr/>
          <p:nvPr/>
        </p:nvSpPr>
        <p:spPr>
          <a:xfrm>
            <a:off x="457200" y="4745736"/>
            <a:ext cx="274320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4360" y="4837176"/>
            <a:ext cx="2468880" cy="292608"/>
          </a:xfrm>
          <a:prstGeom prst="rect">
            <a:avLst/>
          </a:prstGeom>
          <a:noFill/>
        </p:spPr>
        <p:txBody>
          <a:bodyPr wrap="square">
            <a:spAutoFit/>
          </a:bodyPr>
          <a:lstStyle/>
          <a:p>
            <a:pPr algn="l"/>
            <a:r>
              <a:rPr sz="1050" b="0" i="0">
                <a:solidFill>
                  <a:srgbClr val="FFFFFF"/>
                </a:solidFill>
                <a:latin typeface="Segoe UI"/>
              </a:rPr>
              <a:t>Enterprise UI</a:t>
            </a:r>
          </a:p>
        </p:txBody>
      </p:sp>
      <p:sp>
        <p:nvSpPr>
          <p:cNvPr id="81" name="Rectangle 80"/>
          <p:cNvSpPr/>
          <p:nvPr/>
        </p:nvSpPr>
        <p:spPr>
          <a:xfrm>
            <a:off x="3200400" y="4745736"/>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200400" y="483717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83" name="Rectangle 82"/>
          <p:cNvSpPr/>
          <p:nvPr/>
        </p:nvSpPr>
        <p:spPr>
          <a:xfrm>
            <a:off x="5120640" y="4745736"/>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120640" y="483717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85" name="Rectangle 84"/>
          <p:cNvSpPr/>
          <p:nvPr/>
        </p:nvSpPr>
        <p:spPr>
          <a:xfrm>
            <a:off x="7040880" y="4745736"/>
            <a:ext cx="1920240" cy="475488"/>
          </a:xfrm>
          <a:prstGeom prst="rect">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040880" y="4837176"/>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87" name="Rectangle 86"/>
          <p:cNvSpPr/>
          <p:nvPr/>
        </p:nvSpPr>
        <p:spPr>
          <a:xfrm>
            <a:off x="8961120" y="4745736"/>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961120" y="4837176"/>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89" name="Rectangle 88"/>
          <p:cNvSpPr/>
          <p:nvPr/>
        </p:nvSpPr>
        <p:spPr>
          <a:xfrm>
            <a:off x="457200" y="5221224"/>
            <a:ext cx="274320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94360" y="5312664"/>
            <a:ext cx="2468880" cy="292608"/>
          </a:xfrm>
          <a:prstGeom prst="rect">
            <a:avLst/>
          </a:prstGeom>
          <a:noFill/>
        </p:spPr>
        <p:txBody>
          <a:bodyPr wrap="square">
            <a:spAutoFit/>
          </a:bodyPr>
          <a:lstStyle/>
          <a:p>
            <a:pPr algn="l"/>
            <a:r>
              <a:rPr sz="1050" b="0" i="0">
                <a:solidFill>
                  <a:srgbClr val="FFFFFF"/>
                </a:solidFill>
                <a:latin typeface="Segoe UI"/>
              </a:rPr>
              <a:t>Reasoning transparency</a:t>
            </a:r>
          </a:p>
        </p:txBody>
      </p:sp>
      <p:sp>
        <p:nvSpPr>
          <p:cNvPr id="91" name="Rectangle 90"/>
          <p:cNvSpPr/>
          <p:nvPr/>
        </p:nvSpPr>
        <p:spPr>
          <a:xfrm>
            <a:off x="3200400" y="5221224"/>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200400" y="531266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93" name="Rectangle 92"/>
          <p:cNvSpPr/>
          <p:nvPr/>
        </p:nvSpPr>
        <p:spPr>
          <a:xfrm>
            <a:off x="5120640" y="5221224"/>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120640" y="531266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95" name="Rectangle 94"/>
          <p:cNvSpPr/>
          <p:nvPr/>
        </p:nvSpPr>
        <p:spPr>
          <a:xfrm>
            <a:off x="7040880" y="5221224"/>
            <a:ext cx="1920240" cy="475488"/>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040880" y="5312664"/>
            <a:ext cx="1920240" cy="292608"/>
          </a:xfrm>
          <a:prstGeom prst="rect">
            <a:avLst/>
          </a:prstGeom>
          <a:noFill/>
        </p:spPr>
        <p:txBody>
          <a:bodyPr wrap="square">
            <a:spAutoFit/>
          </a:bodyPr>
          <a:lstStyle/>
          <a:p>
            <a:pPr algn="ctr"/>
            <a:r>
              <a:rPr sz="1100" b="0" i="0">
                <a:solidFill>
                  <a:srgbClr val="F43F5E"/>
                </a:solidFill>
                <a:latin typeface="Segoe UI"/>
              </a:rPr>
              <a:t>No</a:t>
            </a:r>
          </a:p>
        </p:txBody>
      </p:sp>
      <p:sp>
        <p:nvSpPr>
          <p:cNvPr id="97" name="Rectangle 96"/>
          <p:cNvSpPr/>
          <p:nvPr/>
        </p:nvSpPr>
        <p:spPr>
          <a:xfrm>
            <a:off x="8961120" y="5221224"/>
            <a:ext cx="2468880" cy="4754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961120" y="5312664"/>
            <a:ext cx="2468880" cy="292608"/>
          </a:xfrm>
          <a:prstGeom prst="rect">
            <a:avLst/>
          </a:prstGeom>
          <a:noFill/>
        </p:spPr>
        <p:txBody>
          <a:bodyPr wrap="square">
            <a:spAutoFit/>
          </a:bodyPr>
          <a:lstStyle/>
          <a:p>
            <a:pPr algn="ctr"/>
            <a:r>
              <a:rPr sz="1100" b="1" i="0">
                <a:solidFill>
                  <a:srgbClr val="10B981"/>
                </a:solidFill>
                <a:latin typeface="Segoe UI"/>
              </a:rPr>
              <a:t>Yes</a:t>
            </a:r>
          </a:p>
        </p:txBody>
      </p:sp>
      <p:sp>
        <p:nvSpPr>
          <p:cNvPr id="99" name="Rectangle 98"/>
          <p:cNvSpPr/>
          <p:nvPr/>
        </p:nvSpPr>
        <p:spPr>
          <a:xfrm>
            <a:off x="457200" y="5715000"/>
            <a:ext cx="11247120" cy="548640"/>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57200" y="5715000"/>
            <a:ext cx="50292"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85800" y="5824728"/>
            <a:ext cx="10789920" cy="347472"/>
          </a:xfrm>
          <a:prstGeom prst="rect">
            <a:avLst/>
          </a:prstGeom>
          <a:noFill/>
        </p:spPr>
        <p:txBody>
          <a:bodyPr wrap="square">
            <a:spAutoFit/>
          </a:bodyPr>
          <a:lstStyle/>
          <a:p>
            <a:pPr algn="l"/>
            <a:r>
              <a:rPr sz="1050" b="0" i="0">
                <a:solidFill>
                  <a:srgbClr val="A8B4CF"/>
                </a:solidFill>
                <a:latin typeface="Segoe UI"/>
              </a:rPr>
              <a:t>BioResearch OS is the only tool that combines adaptive retrieval, critique-based evidence scoring, and full reasoning transparency in a researcher-facing 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Technology Stack</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Full-stack  *  open source  *  CPU-first  *  no cloud dependencies</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44752"/>
            <a:ext cx="2697480" cy="448056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4752"/>
            <a:ext cx="26974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54480"/>
            <a:ext cx="2331720" cy="384048"/>
          </a:xfrm>
          <a:prstGeom prst="rect">
            <a:avLst/>
          </a:prstGeom>
          <a:noFill/>
        </p:spPr>
        <p:txBody>
          <a:bodyPr wrap="square">
            <a:spAutoFit/>
          </a:bodyPr>
          <a:lstStyle/>
          <a:p>
            <a:pPr algn="l"/>
            <a:r>
              <a:rPr sz="1600" b="1" i="0">
                <a:solidFill>
                  <a:srgbClr val="4F46E5"/>
                </a:solidFill>
                <a:latin typeface="Segoe UI"/>
              </a:rPr>
              <a:t>Frontend</a:t>
            </a:r>
          </a:p>
        </p:txBody>
      </p:sp>
      <p:sp>
        <p:nvSpPr>
          <p:cNvPr id="12" name="Rectangle 11"/>
          <p:cNvSpPr/>
          <p:nvPr/>
        </p:nvSpPr>
        <p:spPr>
          <a:xfrm>
            <a:off x="640080" y="2011680"/>
            <a:ext cx="12801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286000"/>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176272"/>
            <a:ext cx="2130552" cy="320040"/>
          </a:xfrm>
          <a:prstGeom prst="rect">
            <a:avLst/>
          </a:prstGeom>
          <a:noFill/>
        </p:spPr>
        <p:txBody>
          <a:bodyPr wrap="square">
            <a:spAutoFit/>
          </a:bodyPr>
          <a:lstStyle/>
          <a:p>
            <a:pPr algn="l"/>
            <a:r>
              <a:rPr sz="1100" b="0" i="0">
                <a:solidFill>
                  <a:srgbClr val="A8B4CF"/>
                </a:solidFill>
                <a:latin typeface="Segoe UI"/>
              </a:rPr>
              <a:t>Next.js 15</a:t>
            </a:r>
          </a:p>
        </p:txBody>
      </p:sp>
      <p:sp>
        <p:nvSpPr>
          <p:cNvPr id="15" name="Rectangle 14"/>
          <p:cNvSpPr/>
          <p:nvPr/>
        </p:nvSpPr>
        <p:spPr>
          <a:xfrm>
            <a:off x="658368" y="2688336"/>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578608"/>
            <a:ext cx="2130552" cy="320040"/>
          </a:xfrm>
          <a:prstGeom prst="rect">
            <a:avLst/>
          </a:prstGeom>
          <a:noFill/>
        </p:spPr>
        <p:txBody>
          <a:bodyPr wrap="square">
            <a:spAutoFit/>
          </a:bodyPr>
          <a:lstStyle/>
          <a:p>
            <a:pPr algn="l"/>
            <a:r>
              <a:rPr sz="1100" b="0" i="0">
                <a:solidFill>
                  <a:srgbClr val="A8B4CF"/>
                </a:solidFill>
                <a:latin typeface="Segoe UI"/>
              </a:rPr>
              <a:t>TypeScript 5</a:t>
            </a:r>
          </a:p>
        </p:txBody>
      </p:sp>
      <p:sp>
        <p:nvSpPr>
          <p:cNvPr id="17" name="Rectangle 16"/>
          <p:cNvSpPr/>
          <p:nvPr/>
        </p:nvSpPr>
        <p:spPr>
          <a:xfrm>
            <a:off x="658368" y="3090672"/>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2980944"/>
            <a:ext cx="2130552" cy="320040"/>
          </a:xfrm>
          <a:prstGeom prst="rect">
            <a:avLst/>
          </a:prstGeom>
          <a:noFill/>
        </p:spPr>
        <p:txBody>
          <a:bodyPr wrap="square">
            <a:spAutoFit/>
          </a:bodyPr>
          <a:lstStyle/>
          <a:p>
            <a:pPr algn="l"/>
            <a:r>
              <a:rPr sz="1100" b="0" i="0">
                <a:solidFill>
                  <a:srgbClr val="A8B4CF"/>
                </a:solidFill>
                <a:latin typeface="Segoe UI"/>
              </a:rPr>
              <a:t>Tailwind CSS 3</a:t>
            </a:r>
          </a:p>
        </p:txBody>
      </p:sp>
      <p:sp>
        <p:nvSpPr>
          <p:cNvPr id="19" name="Rectangle 18"/>
          <p:cNvSpPr/>
          <p:nvPr/>
        </p:nvSpPr>
        <p:spPr>
          <a:xfrm>
            <a:off x="658368" y="3493008"/>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383280"/>
            <a:ext cx="2130552" cy="320040"/>
          </a:xfrm>
          <a:prstGeom prst="rect">
            <a:avLst/>
          </a:prstGeom>
          <a:noFill/>
        </p:spPr>
        <p:txBody>
          <a:bodyPr wrap="square">
            <a:spAutoFit/>
          </a:bodyPr>
          <a:lstStyle/>
          <a:p>
            <a:pPr algn="l"/>
            <a:r>
              <a:rPr sz="1100" b="0" i="0">
                <a:solidFill>
                  <a:srgbClr val="A8B4CF"/>
                </a:solidFill>
                <a:latin typeface="Segoe UI"/>
              </a:rPr>
              <a:t>Framer Motion 11</a:t>
            </a:r>
          </a:p>
        </p:txBody>
      </p:sp>
      <p:sp>
        <p:nvSpPr>
          <p:cNvPr id="21" name="Rectangle 20"/>
          <p:cNvSpPr/>
          <p:nvPr/>
        </p:nvSpPr>
        <p:spPr>
          <a:xfrm>
            <a:off x="658368" y="3895344"/>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785616"/>
            <a:ext cx="2130552" cy="320040"/>
          </a:xfrm>
          <a:prstGeom prst="rect">
            <a:avLst/>
          </a:prstGeom>
          <a:noFill/>
        </p:spPr>
        <p:txBody>
          <a:bodyPr wrap="square">
            <a:spAutoFit/>
          </a:bodyPr>
          <a:lstStyle/>
          <a:p>
            <a:pPr algn="l"/>
            <a:r>
              <a:rPr sz="1100" b="0" i="0">
                <a:solidFill>
                  <a:srgbClr val="A8B4CF"/>
                </a:solidFill>
                <a:latin typeface="Segoe UI"/>
              </a:rPr>
              <a:t>Zustand 4</a:t>
            </a:r>
          </a:p>
        </p:txBody>
      </p:sp>
      <p:sp>
        <p:nvSpPr>
          <p:cNvPr id="23" name="Rectangle 22"/>
          <p:cNvSpPr/>
          <p:nvPr/>
        </p:nvSpPr>
        <p:spPr>
          <a:xfrm>
            <a:off x="658368" y="4297680"/>
            <a:ext cx="64008"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187952"/>
            <a:ext cx="2130552" cy="320040"/>
          </a:xfrm>
          <a:prstGeom prst="rect">
            <a:avLst/>
          </a:prstGeom>
          <a:noFill/>
        </p:spPr>
        <p:txBody>
          <a:bodyPr wrap="square">
            <a:spAutoFit/>
          </a:bodyPr>
          <a:lstStyle/>
          <a:p>
            <a:pPr algn="l"/>
            <a:r>
              <a:rPr sz="1100" b="0" i="0">
                <a:solidFill>
                  <a:srgbClr val="A8B4CF"/>
                </a:solidFill>
                <a:latin typeface="Segoe UI"/>
              </a:rPr>
              <a:t>TanStack Query</a:t>
            </a:r>
          </a:p>
        </p:txBody>
      </p:sp>
      <p:sp>
        <p:nvSpPr>
          <p:cNvPr id="25" name="Rectangle 24"/>
          <p:cNvSpPr/>
          <p:nvPr/>
        </p:nvSpPr>
        <p:spPr>
          <a:xfrm>
            <a:off x="3328416" y="1444752"/>
            <a:ext cx="2697480" cy="448056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28416" y="1444752"/>
            <a:ext cx="269748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11296" y="1554480"/>
            <a:ext cx="2331720" cy="384048"/>
          </a:xfrm>
          <a:prstGeom prst="rect">
            <a:avLst/>
          </a:prstGeom>
          <a:noFill/>
        </p:spPr>
        <p:txBody>
          <a:bodyPr wrap="square">
            <a:spAutoFit/>
          </a:bodyPr>
          <a:lstStyle/>
          <a:p>
            <a:pPr algn="l"/>
            <a:r>
              <a:rPr sz="1600" b="1" i="0">
                <a:solidFill>
                  <a:srgbClr val="06B6D4"/>
                </a:solidFill>
                <a:latin typeface="Segoe UI"/>
              </a:rPr>
              <a:t>Backend</a:t>
            </a:r>
          </a:p>
        </p:txBody>
      </p:sp>
      <p:sp>
        <p:nvSpPr>
          <p:cNvPr id="28" name="Rectangle 27"/>
          <p:cNvSpPr/>
          <p:nvPr/>
        </p:nvSpPr>
        <p:spPr>
          <a:xfrm>
            <a:off x="3511296" y="2011680"/>
            <a:ext cx="128016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29584" y="2286000"/>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12464" y="2176272"/>
            <a:ext cx="2130552" cy="320040"/>
          </a:xfrm>
          <a:prstGeom prst="rect">
            <a:avLst/>
          </a:prstGeom>
          <a:noFill/>
        </p:spPr>
        <p:txBody>
          <a:bodyPr wrap="square">
            <a:spAutoFit/>
          </a:bodyPr>
          <a:lstStyle/>
          <a:p>
            <a:pPr algn="l"/>
            <a:r>
              <a:rPr sz="1100" b="0" i="0">
                <a:solidFill>
                  <a:srgbClr val="A8B4CF"/>
                </a:solidFill>
                <a:latin typeface="Segoe UI"/>
              </a:rPr>
              <a:t>Python 3.10+</a:t>
            </a:r>
          </a:p>
        </p:txBody>
      </p:sp>
      <p:sp>
        <p:nvSpPr>
          <p:cNvPr id="31" name="Rectangle 30"/>
          <p:cNvSpPr/>
          <p:nvPr/>
        </p:nvSpPr>
        <p:spPr>
          <a:xfrm>
            <a:off x="3529584" y="2688336"/>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12464" y="2578608"/>
            <a:ext cx="2130552" cy="320040"/>
          </a:xfrm>
          <a:prstGeom prst="rect">
            <a:avLst/>
          </a:prstGeom>
          <a:noFill/>
        </p:spPr>
        <p:txBody>
          <a:bodyPr wrap="square">
            <a:spAutoFit/>
          </a:bodyPr>
          <a:lstStyle/>
          <a:p>
            <a:pPr algn="l"/>
            <a:r>
              <a:rPr sz="1100" b="0" i="0">
                <a:solidFill>
                  <a:srgbClr val="A8B4CF"/>
                </a:solidFill>
                <a:latin typeface="Segoe UI"/>
              </a:rPr>
              <a:t>NumPy</a:t>
            </a:r>
          </a:p>
        </p:txBody>
      </p:sp>
      <p:sp>
        <p:nvSpPr>
          <p:cNvPr id="33" name="Rectangle 32"/>
          <p:cNvSpPr/>
          <p:nvPr/>
        </p:nvSpPr>
        <p:spPr>
          <a:xfrm>
            <a:off x="3529584" y="3090672"/>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12464" y="2980944"/>
            <a:ext cx="2130552" cy="320040"/>
          </a:xfrm>
          <a:prstGeom prst="rect">
            <a:avLst/>
          </a:prstGeom>
          <a:noFill/>
        </p:spPr>
        <p:txBody>
          <a:bodyPr wrap="square">
            <a:spAutoFit/>
          </a:bodyPr>
          <a:lstStyle/>
          <a:p>
            <a:pPr algn="l"/>
            <a:r>
              <a:rPr sz="1100" b="0" i="0">
                <a:solidFill>
                  <a:srgbClr val="A8B4CF"/>
                </a:solidFill>
                <a:latin typeface="Segoe UI"/>
              </a:rPr>
              <a:t>Gradio 6</a:t>
            </a:r>
          </a:p>
        </p:txBody>
      </p:sp>
      <p:sp>
        <p:nvSpPr>
          <p:cNvPr id="35" name="Rectangle 34"/>
          <p:cNvSpPr/>
          <p:nvPr/>
        </p:nvSpPr>
        <p:spPr>
          <a:xfrm>
            <a:off x="3529584" y="3493008"/>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12464" y="3383280"/>
            <a:ext cx="2130552" cy="320040"/>
          </a:xfrm>
          <a:prstGeom prst="rect">
            <a:avLst/>
          </a:prstGeom>
          <a:noFill/>
        </p:spPr>
        <p:txBody>
          <a:bodyPr wrap="square">
            <a:spAutoFit/>
          </a:bodyPr>
          <a:lstStyle/>
          <a:p>
            <a:pPr algn="l"/>
            <a:r>
              <a:rPr sz="1100" b="0" i="0">
                <a:solidFill>
                  <a:srgbClr val="A8B4CF"/>
                </a:solidFill>
                <a:latin typeface="Segoe UI"/>
              </a:rPr>
              <a:t>HuggingFace Transformers</a:t>
            </a:r>
          </a:p>
        </p:txBody>
      </p:sp>
      <p:sp>
        <p:nvSpPr>
          <p:cNvPr id="37" name="Rectangle 36"/>
          <p:cNvSpPr/>
          <p:nvPr/>
        </p:nvSpPr>
        <p:spPr>
          <a:xfrm>
            <a:off x="3529584" y="3895344"/>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12464" y="3785616"/>
            <a:ext cx="2130552" cy="320040"/>
          </a:xfrm>
          <a:prstGeom prst="rect">
            <a:avLst/>
          </a:prstGeom>
          <a:noFill/>
        </p:spPr>
        <p:txBody>
          <a:bodyPr wrap="square">
            <a:spAutoFit/>
          </a:bodyPr>
          <a:lstStyle/>
          <a:p>
            <a:pPr algn="l"/>
            <a:r>
              <a:rPr sz="1100" b="0" i="0">
                <a:solidFill>
                  <a:srgbClr val="A8B4CF"/>
                </a:solidFill>
                <a:latin typeface="Segoe UI"/>
              </a:rPr>
              <a:t>PyTorch (optional)</a:t>
            </a:r>
          </a:p>
        </p:txBody>
      </p:sp>
      <p:sp>
        <p:nvSpPr>
          <p:cNvPr id="39" name="Rectangle 38"/>
          <p:cNvSpPr/>
          <p:nvPr/>
        </p:nvSpPr>
        <p:spPr>
          <a:xfrm>
            <a:off x="3529584" y="4297680"/>
            <a:ext cx="64008"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12464" y="4187952"/>
            <a:ext cx="2130552" cy="320040"/>
          </a:xfrm>
          <a:prstGeom prst="rect">
            <a:avLst/>
          </a:prstGeom>
          <a:noFill/>
        </p:spPr>
        <p:txBody>
          <a:bodyPr wrap="square">
            <a:spAutoFit/>
          </a:bodyPr>
          <a:lstStyle/>
          <a:p>
            <a:pPr algn="l"/>
            <a:r>
              <a:rPr sz="1100" b="0" i="0">
                <a:solidFill>
                  <a:srgbClr val="A8B4CF"/>
                </a:solidFill>
                <a:latin typeface="Segoe UI"/>
              </a:rPr>
              <a:t>stdlib HTTP</a:t>
            </a:r>
          </a:p>
        </p:txBody>
      </p:sp>
      <p:sp>
        <p:nvSpPr>
          <p:cNvPr id="41" name="Rectangle 40"/>
          <p:cNvSpPr/>
          <p:nvPr/>
        </p:nvSpPr>
        <p:spPr>
          <a:xfrm>
            <a:off x="6199632" y="1444752"/>
            <a:ext cx="2697480" cy="448056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99632" y="1444752"/>
            <a:ext cx="26974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82512" y="1554480"/>
            <a:ext cx="2331720" cy="384048"/>
          </a:xfrm>
          <a:prstGeom prst="rect">
            <a:avLst/>
          </a:prstGeom>
          <a:noFill/>
        </p:spPr>
        <p:txBody>
          <a:bodyPr wrap="square">
            <a:spAutoFit/>
          </a:bodyPr>
          <a:lstStyle/>
          <a:p>
            <a:pPr algn="l"/>
            <a:r>
              <a:rPr sz="1600" b="1" i="0">
                <a:solidFill>
                  <a:srgbClr val="F59E0B"/>
                </a:solidFill>
                <a:latin typeface="Segoe UI"/>
              </a:rPr>
              <a:t>Data Layer</a:t>
            </a:r>
          </a:p>
        </p:txBody>
      </p:sp>
      <p:sp>
        <p:nvSpPr>
          <p:cNvPr id="44" name="Rectangle 43"/>
          <p:cNvSpPr/>
          <p:nvPr/>
        </p:nvSpPr>
        <p:spPr>
          <a:xfrm>
            <a:off x="6382512" y="2011680"/>
            <a:ext cx="128016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0" y="2286000"/>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0" y="2176272"/>
            <a:ext cx="2130552" cy="320040"/>
          </a:xfrm>
          <a:prstGeom prst="rect">
            <a:avLst/>
          </a:prstGeom>
          <a:noFill/>
        </p:spPr>
        <p:txBody>
          <a:bodyPr wrap="square">
            <a:spAutoFit/>
          </a:bodyPr>
          <a:lstStyle/>
          <a:p>
            <a:pPr algn="l"/>
            <a:r>
              <a:rPr sz="1100" b="0" i="0">
                <a:solidFill>
                  <a:srgbClr val="A8B4CF"/>
                </a:solidFill>
                <a:latin typeface="Segoe UI"/>
              </a:rPr>
              <a:t>PubMedQA (1K abstracts)</a:t>
            </a:r>
          </a:p>
        </p:txBody>
      </p:sp>
      <p:sp>
        <p:nvSpPr>
          <p:cNvPr id="47" name="Rectangle 46"/>
          <p:cNvSpPr/>
          <p:nvPr/>
        </p:nvSpPr>
        <p:spPr>
          <a:xfrm>
            <a:off x="6400800" y="2688336"/>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2578608"/>
            <a:ext cx="2130552" cy="320040"/>
          </a:xfrm>
          <a:prstGeom prst="rect">
            <a:avLst/>
          </a:prstGeom>
          <a:noFill/>
        </p:spPr>
        <p:txBody>
          <a:bodyPr wrap="square">
            <a:spAutoFit/>
          </a:bodyPr>
          <a:lstStyle/>
          <a:p>
            <a:pPr algn="l"/>
            <a:r>
              <a:rPr sz="1100" b="0" i="0">
                <a:solidFill>
                  <a:srgbClr val="A8B4CF"/>
                </a:solidFill>
                <a:latin typeface="Segoe UI"/>
              </a:rPr>
              <a:t>JSON index</a:t>
            </a:r>
          </a:p>
        </p:txBody>
      </p:sp>
      <p:sp>
        <p:nvSpPr>
          <p:cNvPr id="49" name="Rectangle 48"/>
          <p:cNvSpPr/>
          <p:nvPr/>
        </p:nvSpPr>
        <p:spPr>
          <a:xfrm>
            <a:off x="6400800" y="3090672"/>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0" y="2980944"/>
            <a:ext cx="2130552" cy="320040"/>
          </a:xfrm>
          <a:prstGeom prst="rect">
            <a:avLst/>
          </a:prstGeom>
          <a:noFill/>
        </p:spPr>
        <p:txBody>
          <a:bodyPr wrap="square">
            <a:spAutoFit/>
          </a:bodyPr>
          <a:lstStyle/>
          <a:p>
            <a:pPr algn="l"/>
            <a:r>
              <a:rPr sz="1100" b="0" i="0">
                <a:solidFill>
                  <a:srgbClr val="A8B4CF"/>
                </a:solidFill>
                <a:latin typeface="Segoe UI"/>
              </a:rPr>
              <a:t>BM25 statistics</a:t>
            </a:r>
          </a:p>
        </p:txBody>
      </p:sp>
      <p:sp>
        <p:nvSpPr>
          <p:cNvPr id="51" name="Rectangle 50"/>
          <p:cNvSpPr/>
          <p:nvPr/>
        </p:nvSpPr>
        <p:spPr>
          <a:xfrm>
            <a:off x="6400800" y="3493008"/>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3383280"/>
            <a:ext cx="2130552" cy="320040"/>
          </a:xfrm>
          <a:prstGeom prst="rect">
            <a:avLst/>
          </a:prstGeom>
          <a:noFill/>
        </p:spPr>
        <p:txBody>
          <a:bodyPr wrap="square">
            <a:spAutoFit/>
          </a:bodyPr>
          <a:lstStyle/>
          <a:p>
            <a:pPr algn="l"/>
            <a:r>
              <a:rPr sz="1100" b="0" i="0">
                <a:solidFill>
                  <a:srgbClr val="A8B4CF"/>
                </a:solidFill>
                <a:latin typeface="Segoe UI"/>
              </a:rPr>
              <a:t>Blake2b embeddings</a:t>
            </a:r>
          </a:p>
        </p:txBody>
      </p:sp>
      <p:sp>
        <p:nvSpPr>
          <p:cNvPr id="53" name="Rectangle 52"/>
          <p:cNvSpPr/>
          <p:nvPr/>
        </p:nvSpPr>
        <p:spPr>
          <a:xfrm>
            <a:off x="6400800" y="3895344"/>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83680" y="3785616"/>
            <a:ext cx="2130552" cy="320040"/>
          </a:xfrm>
          <a:prstGeom prst="rect">
            <a:avLst/>
          </a:prstGeom>
          <a:noFill/>
        </p:spPr>
        <p:txBody>
          <a:bodyPr wrap="square">
            <a:spAutoFit/>
          </a:bodyPr>
          <a:lstStyle/>
          <a:p>
            <a:pPr algn="l"/>
            <a:r>
              <a:rPr sz="1100" b="0" i="0">
                <a:solidFill>
                  <a:srgbClr val="A8B4CF"/>
                </a:solidFill>
                <a:latin typeface="Segoe UI"/>
              </a:rPr>
              <a:t>Build time &lt;5s</a:t>
            </a:r>
          </a:p>
        </p:txBody>
      </p:sp>
      <p:sp>
        <p:nvSpPr>
          <p:cNvPr id="55" name="Rectangle 54"/>
          <p:cNvSpPr/>
          <p:nvPr/>
        </p:nvSpPr>
        <p:spPr>
          <a:xfrm>
            <a:off x="6400800" y="4297680"/>
            <a:ext cx="64008"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4187952"/>
            <a:ext cx="2130552" cy="320040"/>
          </a:xfrm>
          <a:prstGeom prst="rect">
            <a:avLst/>
          </a:prstGeom>
          <a:noFill/>
        </p:spPr>
        <p:txBody>
          <a:bodyPr wrap="square">
            <a:spAutoFit/>
          </a:bodyPr>
          <a:lstStyle/>
          <a:p>
            <a:pPr algn="l"/>
            <a:r>
              <a:rPr sz="1100" b="0" i="0">
                <a:solidFill>
                  <a:srgbClr val="A8B4CF"/>
                </a:solidFill>
                <a:latin typeface="Segoe UI"/>
              </a:rPr>
              <a:t>In-memory retrieval</a:t>
            </a:r>
          </a:p>
        </p:txBody>
      </p:sp>
      <p:sp>
        <p:nvSpPr>
          <p:cNvPr id="57" name="Rectangle 56"/>
          <p:cNvSpPr/>
          <p:nvPr/>
        </p:nvSpPr>
        <p:spPr>
          <a:xfrm>
            <a:off x="9070848" y="1444752"/>
            <a:ext cx="2697480" cy="4480560"/>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070848" y="1444752"/>
            <a:ext cx="26974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253728" y="1554480"/>
            <a:ext cx="2331720" cy="384048"/>
          </a:xfrm>
          <a:prstGeom prst="rect">
            <a:avLst/>
          </a:prstGeom>
          <a:noFill/>
        </p:spPr>
        <p:txBody>
          <a:bodyPr wrap="square">
            <a:spAutoFit/>
          </a:bodyPr>
          <a:lstStyle/>
          <a:p>
            <a:pPr algn="l"/>
            <a:r>
              <a:rPr sz="1600" b="1" i="0">
                <a:solidFill>
                  <a:srgbClr val="10B981"/>
                </a:solidFill>
                <a:latin typeface="Segoe UI"/>
              </a:rPr>
              <a:t>Infrastructure</a:t>
            </a:r>
          </a:p>
        </p:txBody>
      </p:sp>
      <p:sp>
        <p:nvSpPr>
          <p:cNvPr id="60" name="Rectangle 59"/>
          <p:cNvSpPr/>
          <p:nvPr/>
        </p:nvSpPr>
        <p:spPr>
          <a:xfrm>
            <a:off x="9253728" y="2011680"/>
            <a:ext cx="12801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272016" y="2286000"/>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454896" y="2176272"/>
            <a:ext cx="2130552" cy="320040"/>
          </a:xfrm>
          <a:prstGeom prst="rect">
            <a:avLst/>
          </a:prstGeom>
          <a:noFill/>
        </p:spPr>
        <p:txBody>
          <a:bodyPr wrap="square">
            <a:spAutoFit/>
          </a:bodyPr>
          <a:lstStyle/>
          <a:p>
            <a:pPr algn="l"/>
            <a:r>
              <a:rPr sz="1100" b="0" i="0">
                <a:solidFill>
                  <a:srgbClr val="A8B4CF"/>
                </a:solidFill>
                <a:latin typeface="Segoe UI"/>
              </a:rPr>
              <a:t>stdlib HTTP server</a:t>
            </a:r>
          </a:p>
        </p:txBody>
      </p:sp>
      <p:sp>
        <p:nvSpPr>
          <p:cNvPr id="63" name="Rectangle 62"/>
          <p:cNvSpPr/>
          <p:nvPr/>
        </p:nvSpPr>
        <p:spPr>
          <a:xfrm>
            <a:off x="9272016" y="2688336"/>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454896" y="2578608"/>
            <a:ext cx="2130552" cy="320040"/>
          </a:xfrm>
          <a:prstGeom prst="rect">
            <a:avLst/>
          </a:prstGeom>
          <a:noFill/>
        </p:spPr>
        <p:txBody>
          <a:bodyPr wrap="square">
            <a:spAutoFit/>
          </a:bodyPr>
          <a:lstStyle/>
          <a:p>
            <a:pPr algn="l"/>
            <a:r>
              <a:rPr sz="1100" b="0" i="0">
                <a:solidFill>
                  <a:srgbClr val="A8B4CF"/>
                </a:solidFill>
                <a:latin typeface="Segoe UI"/>
              </a:rPr>
              <a:t>Next.js API routes</a:t>
            </a:r>
          </a:p>
        </p:txBody>
      </p:sp>
      <p:sp>
        <p:nvSpPr>
          <p:cNvPr id="65" name="Rectangle 64"/>
          <p:cNvSpPr/>
          <p:nvPr/>
        </p:nvSpPr>
        <p:spPr>
          <a:xfrm>
            <a:off x="9272016" y="3090672"/>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54896" y="2980944"/>
            <a:ext cx="2130552" cy="320040"/>
          </a:xfrm>
          <a:prstGeom prst="rect">
            <a:avLst/>
          </a:prstGeom>
          <a:noFill/>
        </p:spPr>
        <p:txBody>
          <a:bodyPr wrap="square">
            <a:spAutoFit/>
          </a:bodyPr>
          <a:lstStyle/>
          <a:p>
            <a:pPr algn="l"/>
            <a:r>
              <a:rPr sz="1100" b="0" i="0">
                <a:solidFill>
                  <a:srgbClr val="A8B4CF"/>
                </a:solidFill>
                <a:latin typeface="Segoe UI"/>
              </a:rPr>
              <a:t>localhost-first</a:t>
            </a:r>
          </a:p>
        </p:txBody>
      </p:sp>
      <p:sp>
        <p:nvSpPr>
          <p:cNvPr id="67" name="Rectangle 66"/>
          <p:cNvSpPr/>
          <p:nvPr/>
        </p:nvSpPr>
        <p:spPr>
          <a:xfrm>
            <a:off x="9272016" y="3493008"/>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454896" y="3383280"/>
            <a:ext cx="2130552" cy="320040"/>
          </a:xfrm>
          <a:prstGeom prst="rect">
            <a:avLst/>
          </a:prstGeom>
          <a:noFill/>
        </p:spPr>
        <p:txBody>
          <a:bodyPr wrap="square">
            <a:spAutoFit/>
          </a:bodyPr>
          <a:lstStyle/>
          <a:p>
            <a:pPr algn="l"/>
            <a:r>
              <a:rPr sz="1100" b="0" i="0">
                <a:solidFill>
                  <a:srgbClr val="A8B4CF"/>
                </a:solidFill>
                <a:latin typeface="Segoe UI"/>
              </a:rPr>
              <a:t>No cloud required</a:t>
            </a:r>
          </a:p>
        </p:txBody>
      </p:sp>
      <p:sp>
        <p:nvSpPr>
          <p:cNvPr id="69" name="Rectangle 68"/>
          <p:cNvSpPr/>
          <p:nvPr/>
        </p:nvSpPr>
        <p:spPr>
          <a:xfrm>
            <a:off x="9272016" y="3895344"/>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54896" y="3785616"/>
            <a:ext cx="2130552" cy="320040"/>
          </a:xfrm>
          <a:prstGeom prst="rect">
            <a:avLst/>
          </a:prstGeom>
          <a:noFill/>
        </p:spPr>
        <p:txBody>
          <a:bodyPr wrap="square">
            <a:spAutoFit/>
          </a:bodyPr>
          <a:lstStyle/>
          <a:p>
            <a:pPr algn="l"/>
            <a:r>
              <a:rPr sz="1100" b="0" i="0">
                <a:solidFill>
                  <a:srgbClr val="A8B4CF"/>
                </a:solidFill>
                <a:latin typeface="Segoe UI"/>
              </a:rPr>
              <a:t>REST bridge :7862</a:t>
            </a:r>
          </a:p>
        </p:txBody>
      </p:sp>
      <p:sp>
        <p:nvSpPr>
          <p:cNvPr id="71" name="Rectangle 70"/>
          <p:cNvSpPr/>
          <p:nvPr/>
        </p:nvSpPr>
        <p:spPr>
          <a:xfrm>
            <a:off x="9272016" y="4297680"/>
            <a:ext cx="64008"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454896" y="4187952"/>
            <a:ext cx="2130552" cy="320040"/>
          </a:xfrm>
          <a:prstGeom prst="rect">
            <a:avLst/>
          </a:prstGeom>
          <a:noFill/>
        </p:spPr>
        <p:txBody>
          <a:bodyPr wrap="square">
            <a:spAutoFit/>
          </a:bodyPr>
          <a:lstStyle/>
          <a:p>
            <a:pPr algn="l"/>
            <a:r>
              <a:rPr sz="1100" b="0" i="0">
                <a:solidFill>
                  <a:srgbClr val="A8B4CF"/>
                </a:solidFill>
                <a:latin typeface="Segoe UI"/>
              </a:rPr>
              <a:t>UI :3000/:3001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47472"/>
            <a:ext cx="64008" cy="5669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01752"/>
            <a:ext cx="10515600" cy="658368"/>
          </a:xfrm>
          <a:prstGeom prst="rect">
            <a:avLst/>
          </a:prstGeom>
          <a:noFill/>
        </p:spPr>
        <p:txBody>
          <a:bodyPr wrap="square">
            <a:spAutoFit/>
          </a:bodyPr>
          <a:lstStyle/>
          <a:p>
            <a:pPr algn="l"/>
            <a:r>
              <a:rPr sz="2800" b="1" i="0">
                <a:solidFill>
                  <a:srgbClr val="FFFFFF"/>
                </a:solidFill>
                <a:latin typeface="Segoe UI Semibold"/>
              </a:rPr>
              <a:t>Limitations &amp; Future Work</a:t>
            </a:r>
          </a:p>
        </p:txBody>
      </p:sp>
      <p:sp>
        <p:nvSpPr>
          <p:cNvPr id="5" name="TextBox 4"/>
          <p:cNvSpPr txBox="1"/>
          <p:nvPr/>
        </p:nvSpPr>
        <p:spPr>
          <a:xfrm>
            <a:off x="713232" y="914400"/>
            <a:ext cx="10515600" cy="320040"/>
          </a:xfrm>
          <a:prstGeom prst="rect">
            <a:avLst/>
          </a:prstGeom>
          <a:noFill/>
        </p:spPr>
        <p:txBody>
          <a:bodyPr wrap="square">
            <a:spAutoFit/>
          </a:bodyPr>
          <a:lstStyle/>
          <a:p>
            <a:pPr algn="l"/>
            <a:r>
              <a:rPr sz="1200" b="0" i="0">
                <a:solidFill>
                  <a:srgbClr val="A8B4CF"/>
                </a:solidFill>
                <a:latin typeface="Segoe UI"/>
              </a:rPr>
              <a:t>Honest assessment of current constraints and the clearest path forward</a:t>
            </a:r>
          </a:p>
        </p:txBody>
      </p:sp>
      <p:sp>
        <p:nvSpPr>
          <p:cNvPr id="6" name="Rectangle 5"/>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8" name="TextBox 7"/>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9" name="Rectangle 8"/>
          <p:cNvSpPr/>
          <p:nvPr/>
        </p:nvSpPr>
        <p:spPr>
          <a:xfrm>
            <a:off x="457200" y="1444752"/>
            <a:ext cx="5440680" cy="473659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4752"/>
            <a:ext cx="50292" cy="47365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54480"/>
            <a:ext cx="5029200" cy="347472"/>
          </a:xfrm>
          <a:prstGeom prst="rect">
            <a:avLst/>
          </a:prstGeom>
          <a:noFill/>
        </p:spPr>
        <p:txBody>
          <a:bodyPr wrap="square">
            <a:spAutoFit/>
          </a:bodyPr>
          <a:lstStyle/>
          <a:p>
            <a:pPr algn="l"/>
            <a:r>
              <a:rPr sz="1400" b="1" i="0">
                <a:solidFill>
                  <a:srgbClr val="F43F5E"/>
                </a:solidFill>
                <a:latin typeface="Segoe UI"/>
              </a:rPr>
              <a:t>Current Limitations</a:t>
            </a:r>
          </a:p>
        </p:txBody>
      </p:sp>
      <p:sp>
        <p:nvSpPr>
          <p:cNvPr id="12" name="Rectangle 11"/>
          <p:cNvSpPr/>
          <p:nvPr/>
        </p:nvSpPr>
        <p:spPr>
          <a:xfrm>
            <a:off x="658368" y="2084832"/>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029968"/>
            <a:ext cx="4754880" cy="274320"/>
          </a:xfrm>
          <a:prstGeom prst="rect">
            <a:avLst/>
          </a:prstGeom>
          <a:noFill/>
        </p:spPr>
        <p:txBody>
          <a:bodyPr wrap="square">
            <a:spAutoFit/>
          </a:bodyPr>
          <a:lstStyle/>
          <a:p>
            <a:pPr algn="l"/>
            <a:r>
              <a:rPr sz="1100" b="1" i="0">
                <a:solidFill>
                  <a:srgbClr val="FFFFFF"/>
                </a:solidFill>
                <a:latin typeface="Segoe UI"/>
              </a:rPr>
              <a:t>Hash projection != learned semantics</a:t>
            </a:r>
          </a:p>
        </p:txBody>
      </p:sp>
      <p:sp>
        <p:nvSpPr>
          <p:cNvPr id="14" name="TextBox 13"/>
          <p:cNvSpPr txBox="1"/>
          <p:nvPr/>
        </p:nvSpPr>
        <p:spPr>
          <a:xfrm>
            <a:off x="841248" y="2304288"/>
            <a:ext cx="4754880" cy="274320"/>
          </a:xfrm>
          <a:prstGeom prst="rect">
            <a:avLst/>
          </a:prstGeom>
          <a:noFill/>
        </p:spPr>
        <p:txBody>
          <a:bodyPr wrap="square">
            <a:spAutoFit/>
          </a:bodyPr>
          <a:lstStyle/>
          <a:p>
            <a:pPr algn="l"/>
            <a:r>
              <a:rPr sz="950" b="0" i="0">
                <a:solidFill>
                  <a:srgbClr val="556688"/>
                </a:solidFill>
                <a:latin typeface="Segoe UI"/>
              </a:rPr>
              <a:t>Blake2b cannot capture biomedical synonymy or term variation</a:t>
            </a:r>
          </a:p>
        </p:txBody>
      </p:sp>
      <p:sp>
        <p:nvSpPr>
          <p:cNvPr id="15" name="Rectangle 14"/>
          <p:cNvSpPr/>
          <p:nvPr/>
        </p:nvSpPr>
        <p:spPr>
          <a:xfrm>
            <a:off x="658368" y="2834640"/>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2779776"/>
            <a:ext cx="4754880" cy="274320"/>
          </a:xfrm>
          <a:prstGeom prst="rect">
            <a:avLst/>
          </a:prstGeom>
          <a:noFill/>
        </p:spPr>
        <p:txBody>
          <a:bodyPr wrap="square">
            <a:spAutoFit/>
          </a:bodyPr>
          <a:lstStyle/>
          <a:p>
            <a:pPr algn="l"/>
            <a:r>
              <a:rPr sz="1100" b="1" i="0">
                <a:solidFill>
                  <a:srgbClr val="FFFFFF"/>
                </a:solidFill>
                <a:latin typeface="Segoe UI"/>
              </a:rPr>
              <a:t>Heuristic critique != LLM reflection</a:t>
            </a:r>
          </a:p>
        </p:txBody>
      </p:sp>
      <p:sp>
        <p:nvSpPr>
          <p:cNvPr id="17" name="TextBox 16"/>
          <p:cNvSpPr txBox="1"/>
          <p:nvPr/>
        </p:nvSpPr>
        <p:spPr>
          <a:xfrm>
            <a:off x="841248" y="3054096"/>
            <a:ext cx="4754880" cy="274320"/>
          </a:xfrm>
          <a:prstGeom prst="rect">
            <a:avLst/>
          </a:prstGeom>
          <a:noFill/>
        </p:spPr>
        <p:txBody>
          <a:bodyPr wrap="square">
            <a:spAutoFit/>
          </a:bodyPr>
          <a:lstStyle/>
          <a:p>
            <a:pPr algn="l"/>
            <a:r>
              <a:rPr sz="950" b="0" i="0">
                <a:solidFill>
                  <a:srgbClr val="556688"/>
                </a:solidFill>
                <a:latin typeface="Segoe UI"/>
              </a:rPr>
              <a:t>BM25-overlap approximates -- not grounds -- reflection token logic</a:t>
            </a:r>
          </a:p>
        </p:txBody>
      </p:sp>
      <p:sp>
        <p:nvSpPr>
          <p:cNvPr id="18" name="Rectangle 17"/>
          <p:cNvSpPr/>
          <p:nvPr/>
        </p:nvSpPr>
        <p:spPr>
          <a:xfrm>
            <a:off x="658368" y="3584448"/>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529584"/>
            <a:ext cx="4754880" cy="274320"/>
          </a:xfrm>
          <a:prstGeom prst="rect">
            <a:avLst/>
          </a:prstGeom>
          <a:noFill/>
        </p:spPr>
        <p:txBody>
          <a:bodyPr wrap="square">
            <a:spAutoFit/>
          </a:bodyPr>
          <a:lstStyle/>
          <a:p>
            <a:pPr algn="l"/>
            <a:r>
              <a:rPr sz="1100" b="1" i="0">
                <a:solidFill>
                  <a:srgbClr val="FFFFFF"/>
                </a:solidFill>
                <a:latin typeface="Segoe UI"/>
              </a:rPr>
              <a:t>Static corpus, no live PubMed</a:t>
            </a:r>
          </a:p>
        </p:txBody>
      </p:sp>
      <p:sp>
        <p:nvSpPr>
          <p:cNvPr id="20" name="TextBox 19"/>
          <p:cNvSpPr txBox="1"/>
          <p:nvPr/>
        </p:nvSpPr>
        <p:spPr>
          <a:xfrm>
            <a:off x="841248" y="3803904"/>
            <a:ext cx="4754880" cy="274320"/>
          </a:xfrm>
          <a:prstGeom prst="rect">
            <a:avLst/>
          </a:prstGeom>
          <a:noFill/>
        </p:spPr>
        <p:txBody>
          <a:bodyPr wrap="square">
            <a:spAutoFit/>
          </a:bodyPr>
          <a:lstStyle/>
          <a:p>
            <a:pPr algn="l"/>
            <a:r>
              <a:rPr sz="950" b="0" i="0">
                <a:solidFill>
                  <a:srgbClr val="556688"/>
                </a:solidFill>
                <a:latin typeface="Segoe UI"/>
              </a:rPr>
              <a:t>Knowledge cutoff at index build; new papers inaccessible</a:t>
            </a:r>
          </a:p>
        </p:txBody>
      </p:sp>
      <p:sp>
        <p:nvSpPr>
          <p:cNvPr id="21" name="Rectangle 20"/>
          <p:cNvSpPr/>
          <p:nvPr/>
        </p:nvSpPr>
        <p:spPr>
          <a:xfrm>
            <a:off x="658368" y="4334256"/>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279392"/>
            <a:ext cx="4754880" cy="274320"/>
          </a:xfrm>
          <a:prstGeom prst="rect">
            <a:avLst/>
          </a:prstGeom>
          <a:noFill/>
        </p:spPr>
        <p:txBody>
          <a:bodyPr wrap="square">
            <a:spAutoFit/>
          </a:bodyPr>
          <a:lstStyle/>
          <a:p>
            <a:pPr algn="l"/>
            <a:r>
              <a:rPr sz="1100" b="1" i="0">
                <a:solidFill>
                  <a:srgbClr val="FFFFFF"/>
                </a:solidFill>
                <a:latin typeface="Segoe UI"/>
              </a:rPr>
              <a:t>Single-user, no authentication</a:t>
            </a:r>
          </a:p>
        </p:txBody>
      </p:sp>
      <p:sp>
        <p:nvSpPr>
          <p:cNvPr id="23" name="TextBox 22"/>
          <p:cNvSpPr txBox="1"/>
          <p:nvPr/>
        </p:nvSpPr>
        <p:spPr>
          <a:xfrm>
            <a:off x="841248" y="4553712"/>
            <a:ext cx="4754880" cy="274320"/>
          </a:xfrm>
          <a:prstGeom prst="rect">
            <a:avLst/>
          </a:prstGeom>
          <a:noFill/>
        </p:spPr>
        <p:txBody>
          <a:bodyPr wrap="square">
            <a:spAutoFit/>
          </a:bodyPr>
          <a:lstStyle/>
          <a:p>
            <a:pPr algn="l"/>
            <a:r>
              <a:rPr sz="950" b="0" i="0">
                <a:solidFill>
                  <a:srgbClr val="556688"/>
                </a:solidFill>
                <a:latin typeface="Segoe UI"/>
              </a:rPr>
              <a:t>No NextAuth or multi-user DB; local session only</a:t>
            </a:r>
          </a:p>
        </p:txBody>
      </p:sp>
      <p:sp>
        <p:nvSpPr>
          <p:cNvPr id="24" name="Rectangle 23"/>
          <p:cNvSpPr/>
          <p:nvPr/>
        </p:nvSpPr>
        <p:spPr>
          <a:xfrm>
            <a:off x="658368" y="5084064"/>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5029200"/>
            <a:ext cx="4754880" cy="274320"/>
          </a:xfrm>
          <a:prstGeom prst="rect">
            <a:avLst/>
          </a:prstGeom>
          <a:noFill/>
        </p:spPr>
        <p:txBody>
          <a:bodyPr wrap="square">
            <a:spAutoFit/>
          </a:bodyPr>
          <a:lstStyle/>
          <a:p>
            <a:pPr algn="l"/>
            <a:r>
              <a:rPr sz="1100" b="1" i="0">
                <a:solidFill>
                  <a:srgbClr val="FFFFFF"/>
                </a:solidFill>
                <a:latin typeface="Segoe UI"/>
              </a:rPr>
              <a:t>10-example evaluation</a:t>
            </a:r>
          </a:p>
        </p:txBody>
      </p:sp>
      <p:sp>
        <p:nvSpPr>
          <p:cNvPr id="26" name="TextBox 25"/>
          <p:cNvSpPr txBox="1"/>
          <p:nvPr/>
        </p:nvSpPr>
        <p:spPr>
          <a:xfrm>
            <a:off x="841248" y="5303520"/>
            <a:ext cx="4754880" cy="274320"/>
          </a:xfrm>
          <a:prstGeom prst="rect">
            <a:avLst/>
          </a:prstGeom>
          <a:noFill/>
        </p:spPr>
        <p:txBody>
          <a:bodyPr wrap="square">
            <a:spAutoFit/>
          </a:bodyPr>
          <a:lstStyle/>
          <a:p>
            <a:pPr algn="l"/>
            <a:r>
              <a:rPr sz="950" b="0" i="0">
                <a:solidFill>
                  <a:srgbClr val="556688"/>
                </a:solidFill>
                <a:latin typeface="Segoe UI"/>
              </a:rPr>
              <a:t>Too small for statistically robust conclusions</a:t>
            </a:r>
          </a:p>
        </p:txBody>
      </p:sp>
      <p:sp>
        <p:nvSpPr>
          <p:cNvPr id="27" name="Rectangle 26"/>
          <p:cNvSpPr/>
          <p:nvPr/>
        </p:nvSpPr>
        <p:spPr>
          <a:xfrm>
            <a:off x="6263640" y="1444752"/>
            <a:ext cx="5440680" cy="473659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1444752"/>
            <a:ext cx="50292" cy="47365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1554480"/>
            <a:ext cx="5029200" cy="347472"/>
          </a:xfrm>
          <a:prstGeom prst="rect">
            <a:avLst/>
          </a:prstGeom>
          <a:noFill/>
        </p:spPr>
        <p:txBody>
          <a:bodyPr wrap="square">
            <a:spAutoFit/>
          </a:bodyPr>
          <a:lstStyle/>
          <a:p>
            <a:pPr algn="l"/>
            <a:r>
              <a:rPr sz="1400" b="1" i="0">
                <a:solidFill>
                  <a:srgbClr val="10B981"/>
                </a:solidFill>
                <a:latin typeface="Segoe UI"/>
              </a:rPr>
              <a:t>Future Work</a:t>
            </a:r>
          </a:p>
        </p:txBody>
      </p:sp>
      <p:sp>
        <p:nvSpPr>
          <p:cNvPr id="30" name="Rectangle 29"/>
          <p:cNvSpPr/>
          <p:nvPr/>
        </p:nvSpPr>
        <p:spPr>
          <a:xfrm>
            <a:off x="6464808" y="2084832"/>
            <a:ext cx="73152"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7688" y="2029968"/>
            <a:ext cx="4754880" cy="274320"/>
          </a:xfrm>
          <a:prstGeom prst="rect">
            <a:avLst/>
          </a:prstGeom>
          <a:noFill/>
        </p:spPr>
        <p:txBody>
          <a:bodyPr wrap="square">
            <a:spAutoFit/>
          </a:bodyPr>
          <a:lstStyle/>
          <a:p>
            <a:pPr algn="l"/>
            <a:r>
              <a:rPr sz="1100" b="1" i="0">
                <a:solidFill>
                  <a:srgbClr val="FFFFFF"/>
                </a:solidFill>
                <a:latin typeface="Segoe UI"/>
              </a:rPr>
              <a:t>PubMedBERT Encoder</a:t>
            </a:r>
          </a:p>
        </p:txBody>
      </p:sp>
      <p:sp>
        <p:nvSpPr>
          <p:cNvPr id="32" name="TextBox 31"/>
          <p:cNvSpPr txBox="1"/>
          <p:nvPr/>
        </p:nvSpPr>
        <p:spPr>
          <a:xfrm>
            <a:off x="6647688" y="2304288"/>
            <a:ext cx="4754880" cy="274320"/>
          </a:xfrm>
          <a:prstGeom prst="rect">
            <a:avLst/>
          </a:prstGeom>
          <a:noFill/>
        </p:spPr>
        <p:txBody>
          <a:bodyPr wrap="square">
            <a:spAutoFit/>
          </a:bodyPr>
          <a:lstStyle/>
          <a:p>
            <a:pPr algn="l"/>
            <a:r>
              <a:rPr sz="950" b="0" i="0">
                <a:solidFill>
                  <a:srgbClr val="556688"/>
                </a:solidFill>
                <a:latin typeface="Segoe UI"/>
              </a:rPr>
              <a:t>Replace hash projection
Estimated: +3-5% label accuracy</a:t>
            </a:r>
          </a:p>
        </p:txBody>
      </p:sp>
      <p:sp>
        <p:nvSpPr>
          <p:cNvPr id="33" name="Rectangle 32"/>
          <p:cNvSpPr/>
          <p:nvPr/>
        </p:nvSpPr>
        <p:spPr>
          <a:xfrm>
            <a:off x="6464808" y="2834640"/>
            <a:ext cx="731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47688" y="2779776"/>
            <a:ext cx="4754880" cy="274320"/>
          </a:xfrm>
          <a:prstGeom prst="rect">
            <a:avLst/>
          </a:prstGeom>
          <a:noFill/>
        </p:spPr>
        <p:txBody>
          <a:bodyPr wrap="square">
            <a:spAutoFit/>
          </a:bodyPr>
          <a:lstStyle/>
          <a:p>
            <a:pPr algn="l"/>
            <a:r>
              <a:rPr sz="1100" b="1" i="0">
                <a:solidFill>
                  <a:srgbClr val="FFFFFF"/>
                </a:solidFill>
                <a:latin typeface="Segoe UI"/>
              </a:rPr>
              <a:t>PubMed E-utilities API</a:t>
            </a:r>
          </a:p>
        </p:txBody>
      </p:sp>
      <p:sp>
        <p:nvSpPr>
          <p:cNvPr id="35" name="TextBox 34"/>
          <p:cNvSpPr txBox="1"/>
          <p:nvPr/>
        </p:nvSpPr>
        <p:spPr>
          <a:xfrm>
            <a:off x="6647688" y="3054096"/>
            <a:ext cx="4754880" cy="274320"/>
          </a:xfrm>
          <a:prstGeom prst="rect">
            <a:avLst/>
          </a:prstGeom>
          <a:noFill/>
        </p:spPr>
        <p:txBody>
          <a:bodyPr wrap="square">
            <a:spAutoFit/>
          </a:bodyPr>
          <a:lstStyle/>
          <a:p>
            <a:pPr algn="l"/>
            <a:r>
              <a:rPr sz="950" b="0" i="0">
                <a:solidFill>
                  <a:srgbClr val="556688"/>
                </a:solidFill>
                <a:latin typeface="Segoe UI"/>
              </a:rPr>
              <a:t>Live search -- real-time evidence
beyond static corpus</a:t>
            </a:r>
          </a:p>
        </p:txBody>
      </p:sp>
      <p:sp>
        <p:nvSpPr>
          <p:cNvPr id="36" name="Rectangle 35"/>
          <p:cNvSpPr/>
          <p:nvPr/>
        </p:nvSpPr>
        <p:spPr>
          <a:xfrm>
            <a:off x="6464808" y="3584448"/>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7688" y="3529584"/>
            <a:ext cx="4754880" cy="274320"/>
          </a:xfrm>
          <a:prstGeom prst="rect">
            <a:avLst/>
          </a:prstGeom>
          <a:noFill/>
        </p:spPr>
        <p:txBody>
          <a:bodyPr wrap="square">
            <a:spAutoFit/>
          </a:bodyPr>
          <a:lstStyle/>
          <a:p>
            <a:pPr algn="l"/>
            <a:r>
              <a:rPr sz="1100" b="1" i="0">
                <a:solidFill>
                  <a:srgbClr val="FFFFFF"/>
                </a:solidFill>
                <a:latin typeface="Segoe UI"/>
              </a:rPr>
              <a:t>Multi-step Retrieval Chains</a:t>
            </a:r>
          </a:p>
        </p:txBody>
      </p:sp>
      <p:sp>
        <p:nvSpPr>
          <p:cNvPr id="38" name="TextBox 37"/>
          <p:cNvSpPr txBox="1"/>
          <p:nvPr/>
        </p:nvSpPr>
        <p:spPr>
          <a:xfrm>
            <a:off x="6647688" y="3803904"/>
            <a:ext cx="4754880" cy="274320"/>
          </a:xfrm>
          <a:prstGeom prst="rect">
            <a:avLst/>
          </a:prstGeom>
          <a:noFill/>
        </p:spPr>
        <p:txBody>
          <a:bodyPr wrap="square">
            <a:spAutoFit/>
          </a:bodyPr>
          <a:lstStyle/>
          <a:p>
            <a:pPr algn="l"/>
            <a:r>
              <a:rPr sz="950" b="0" i="0">
                <a:solidFill>
                  <a:srgbClr val="556688"/>
                </a:solidFill>
                <a:latin typeface="Segoe UI"/>
              </a:rPr>
              <a:t>Chain retrieval calls for
complex multi-part queries</a:t>
            </a:r>
          </a:p>
        </p:txBody>
      </p:sp>
      <p:sp>
        <p:nvSpPr>
          <p:cNvPr id="39" name="Rectangle 38"/>
          <p:cNvSpPr/>
          <p:nvPr/>
        </p:nvSpPr>
        <p:spPr>
          <a:xfrm>
            <a:off x="6464808" y="4334256"/>
            <a:ext cx="731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47688" y="4279392"/>
            <a:ext cx="4754880" cy="274320"/>
          </a:xfrm>
          <a:prstGeom prst="rect">
            <a:avLst/>
          </a:prstGeom>
          <a:noFill/>
        </p:spPr>
        <p:txBody>
          <a:bodyPr wrap="square">
            <a:spAutoFit/>
          </a:bodyPr>
          <a:lstStyle/>
          <a:p>
            <a:pPr algn="l"/>
            <a:r>
              <a:rPr sz="1100" b="1" i="0">
                <a:solidFill>
                  <a:srgbClr val="FFFFFF"/>
                </a:solidFill>
                <a:latin typeface="Segoe UI"/>
              </a:rPr>
              <a:t>NextAuth + PostgreSQL</a:t>
            </a:r>
          </a:p>
        </p:txBody>
      </p:sp>
      <p:sp>
        <p:nvSpPr>
          <p:cNvPr id="41" name="TextBox 40"/>
          <p:cNvSpPr txBox="1"/>
          <p:nvPr/>
        </p:nvSpPr>
        <p:spPr>
          <a:xfrm>
            <a:off x="6647688" y="4553712"/>
            <a:ext cx="4754880" cy="274320"/>
          </a:xfrm>
          <a:prstGeom prst="rect">
            <a:avLst/>
          </a:prstGeom>
          <a:noFill/>
        </p:spPr>
        <p:txBody>
          <a:bodyPr wrap="square">
            <a:spAutoFit/>
          </a:bodyPr>
          <a:lstStyle/>
          <a:p>
            <a:pPr algn="l"/>
            <a:r>
              <a:rPr sz="950" b="0" i="0">
                <a:solidFill>
                  <a:srgbClr val="556688"/>
                </a:solidFill>
                <a:latin typeface="Segoe UI"/>
              </a:rPr>
              <a:t>Multi-user auth and persistent
cross-session knowledge vaults</a:t>
            </a:r>
          </a:p>
        </p:txBody>
      </p:sp>
      <p:sp>
        <p:nvSpPr>
          <p:cNvPr id="42" name="Rectangle 41"/>
          <p:cNvSpPr/>
          <p:nvPr/>
        </p:nvSpPr>
        <p:spPr>
          <a:xfrm>
            <a:off x="6464808" y="5084064"/>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47688" y="5029200"/>
            <a:ext cx="4754880" cy="274320"/>
          </a:xfrm>
          <a:prstGeom prst="rect">
            <a:avLst/>
          </a:prstGeom>
          <a:noFill/>
        </p:spPr>
        <p:txBody>
          <a:bodyPr wrap="square">
            <a:spAutoFit/>
          </a:bodyPr>
          <a:lstStyle/>
          <a:p>
            <a:pPr algn="l"/>
            <a:r>
              <a:rPr sz="1100" b="1" i="0">
                <a:solidFill>
                  <a:srgbClr val="FFFFFF"/>
                </a:solidFill>
                <a:latin typeface="Segoe UI"/>
              </a:rPr>
              <a:t>PDF / Markdown Export</a:t>
            </a:r>
          </a:p>
        </p:txBody>
      </p:sp>
      <p:sp>
        <p:nvSpPr>
          <p:cNvPr id="44" name="TextBox 43"/>
          <p:cNvSpPr txBox="1"/>
          <p:nvPr/>
        </p:nvSpPr>
        <p:spPr>
          <a:xfrm>
            <a:off x="6647688" y="5303520"/>
            <a:ext cx="4754880" cy="274320"/>
          </a:xfrm>
          <a:prstGeom prst="rect">
            <a:avLst/>
          </a:prstGeom>
          <a:noFill/>
        </p:spPr>
        <p:txBody>
          <a:bodyPr wrap="square">
            <a:spAutoFit/>
          </a:bodyPr>
          <a:lstStyle/>
          <a:p>
            <a:pPr algn="l"/>
            <a:r>
              <a:rPr sz="950" b="0" i="0">
                <a:solidFill>
                  <a:srgbClr val="556688"/>
                </a:solidFill>
                <a:latin typeface="Segoe UI"/>
              </a:rPr>
              <a:t>Export sessions with evidence
passages and citation metadata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11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547104"/>
            <a:ext cx="4572000" cy="256032"/>
          </a:xfrm>
          <a:prstGeom prst="rect">
            <a:avLst/>
          </a:prstGeom>
          <a:noFill/>
        </p:spPr>
        <p:txBody>
          <a:bodyPr wrap="square">
            <a:spAutoFit/>
          </a:bodyPr>
          <a:lstStyle/>
          <a:p>
            <a:pPr algn="l"/>
            <a:r>
              <a:rPr sz="850" b="0" i="0">
                <a:solidFill>
                  <a:srgbClr val="556688"/>
                </a:solidFill>
                <a:latin typeface="Segoe UI"/>
              </a:rPr>
              <a:t>BioResearch OS</a:t>
            </a:r>
          </a:p>
        </p:txBody>
      </p:sp>
      <p:sp>
        <p:nvSpPr>
          <p:cNvPr id="6" name="TextBox 5"/>
          <p:cNvSpPr txBox="1"/>
          <p:nvPr/>
        </p:nvSpPr>
        <p:spPr>
          <a:xfrm>
            <a:off x="7132320" y="6547104"/>
            <a:ext cx="4937760" cy="256032"/>
          </a:xfrm>
          <a:prstGeom prst="rect">
            <a:avLst/>
          </a:prstGeom>
          <a:noFill/>
        </p:spPr>
        <p:txBody>
          <a:bodyPr wrap="square">
            <a:spAutoFit/>
          </a:bodyPr>
          <a:lstStyle/>
          <a:p>
            <a:pPr algn="r"/>
            <a:r>
              <a:rPr sz="850" b="0" i="0">
                <a:solidFill>
                  <a:srgbClr val="556688"/>
                </a:solidFill>
                <a:latin typeface="Segoe UI"/>
              </a:rPr>
              <a:t>Final Year Project  |  2025-2026</a:t>
            </a:r>
          </a:p>
        </p:txBody>
      </p:sp>
      <p:sp>
        <p:nvSpPr>
          <p:cNvPr id="7" name="TextBox 6"/>
          <p:cNvSpPr txBox="1"/>
          <p:nvPr/>
        </p:nvSpPr>
        <p:spPr>
          <a:xfrm>
            <a:off x="594360" y="530352"/>
            <a:ext cx="10515600" cy="804672"/>
          </a:xfrm>
          <a:prstGeom prst="rect">
            <a:avLst/>
          </a:prstGeom>
          <a:noFill/>
        </p:spPr>
        <p:txBody>
          <a:bodyPr wrap="square">
            <a:spAutoFit/>
          </a:bodyPr>
          <a:lstStyle/>
          <a:p>
            <a:pPr algn="ctr"/>
            <a:r>
              <a:rPr sz="4400" b="1" i="0">
                <a:solidFill>
                  <a:srgbClr val="FFFFFF"/>
                </a:solidFill>
                <a:latin typeface="Segoe UI Semibold"/>
              </a:rPr>
              <a:t>BioResearch OS</a:t>
            </a:r>
          </a:p>
        </p:txBody>
      </p:sp>
      <p:sp>
        <p:nvSpPr>
          <p:cNvPr id="8" name="TextBox 7"/>
          <p:cNvSpPr txBox="1"/>
          <p:nvPr/>
        </p:nvSpPr>
        <p:spPr>
          <a:xfrm>
            <a:off x="594360" y="1316736"/>
            <a:ext cx="10515600" cy="347472"/>
          </a:xfrm>
          <a:prstGeom prst="rect">
            <a:avLst/>
          </a:prstGeom>
          <a:noFill/>
        </p:spPr>
        <p:txBody>
          <a:bodyPr wrap="square">
            <a:spAutoFit/>
          </a:bodyPr>
          <a:lstStyle/>
          <a:p>
            <a:pPr algn="ctr"/>
            <a:r>
              <a:rPr sz="1400" b="0" i="0">
                <a:solidFill>
                  <a:srgbClr val="A8B4CF"/>
                </a:solidFill>
                <a:latin typeface="Segoe UI"/>
              </a:rPr>
              <a:t>What we built -- and what it proves</a:t>
            </a:r>
          </a:p>
        </p:txBody>
      </p:sp>
      <p:sp>
        <p:nvSpPr>
          <p:cNvPr id="9" name="Rectangle 8"/>
          <p:cNvSpPr/>
          <p:nvPr/>
        </p:nvSpPr>
        <p:spPr>
          <a:xfrm>
            <a:off x="4983480" y="1737360"/>
            <a:ext cx="219456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057400"/>
            <a:ext cx="2212848" cy="3090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57400"/>
            <a:ext cx="2212848"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176272"/>
            <a:ext cx="1883664" cy="384048"/>
          </a:xfrm>
          <a:prstGeom prst="rect">
            <a:avLst/>
          </a:prstGeom>
          <a:noFill/>
        </p:spPr>
        <p:txBody>
          <a:bodyPr wrap="square">
            <a:spAutoFit/>
          </a:bodyPr>
          <a:lstStyle/>
          <a:p>
            <a:pPr algn="l"/>
            <a:r>
              <a:rPr sz="1300" b="1" i="0">
                <a:solidFill>
                  <a:srgbClr val="4F46E5"/>
                </a:solidFill>
                <a:latin typeface="Segoe UI"/>
              </a:rPr>
              <a:t>Self-RAG</a:t>
            </a:r>
          </a:p>
        </p:txBody>
      </p:sp>
      <p:sp>
        <p:nvSpPr>
          <p:cNvPr id="13" name="TextBox 12"/>
          <p:cNvSpPr txBox="1"/>
          <p:nvPr/>
        </p:nvSpPr>
        <p:spPr>
          <a:xfrm>
            <a:off x="621792" y="2633472"/>
            <a:ext cx="1883664" cy="2359152"/>
          </a:xfrm>
          <a:prstGeom prst="rect">
            <a:avLst/>
          </a:prstGeom>
          <a:noFill/>
        </p:spPr>
        <p:txBody>
          <a:bodyPr wrap="square">
            <a:spAutoFit/>
          </a:bodyPr>
          <a:lstStyle/>
          <a:p>
            <a:pPr algn="l"/>
            <a:r>
              <a:rPr sz="1000" b="0" i="0">
                <a:solidFill>
                  <a:srgbClr val="A8B4CF"/>
                </a:solidFill>
                <a:latin typeface="Segoe UI"/>
              </a:rPr>
              <a:t>ICLR 2024 paper translated from prototype
to full working system with reflection tokens,
critique scoring, and candidate selection</a:t>
            </a:r>
          </a:p>
        </p:txBody>
      </p:sp>
      <p:sp>
        <p:nvSpPr>
          <p:cNvPr id="14" name="Rectangle 13"/>
          <p:cNvSpPr/>
          <p:nvPr/>
        </p:nvSpPr>
        <p:spPr>
          <a:xfrm>
            <a:off x="2807208" y="2057400"/>
            <a:ext cx="2212848" cy="3090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07208" y="2057400"/>
            <a:ext cx="2212848"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176272"/>
            <a:ext cx="1883664" cy="384048"/>
          </a:xfrm>
          <a:prstGeom prst="rect">
            <a:avLst/>
          </a:prstGeom>
          <a:noFill/>
        </p:spPr>
        <p:txBody>
          <a:bodyPr wrap="square">
            <a:spAutoFit/>
          </a:bodyPr>
          <a:lstStyle/>
          <a:p>
            <a:pPr algn="l"/>
            <a:r>
              <a:rPr sz="1300" b="1" i="0">
                <a:solidFill>
                  <a:srgbClr val="06B6D4"/>
                </a:solidFill>
                <a:latin typeface="Segoe UI"/>
              </a:rPr>
              <a:t>Evaluation</a:t>
            </a:r>
          </a:p>
        </p:txBody>
      </p:sp>
      <p:sp>
        <p:nvSpPr>
          <p:cNvPr id="17" name="TextBox 16"/>
          <p:cNvSpPr txBox="1"/>
          <p:nvPr/>
        </p:nvSpPr>
        <p:spPr>
          <a:xfrm>
            <a:off x="2971800" y="2633472"/>
            <a:ext cx="1883664" cy="2359152"/>
          </a:xfrm>
          <a:prstGeom prst="rect">
            <a:avLst/>
          </a:prstGeom>
          <a:noFill/>
        </p:spPr>
        <p:txBody>
          <a:bodyPr wrap="square">
            <a:spAutoFit/>
          </a:bodyPr>
          <a:lstStyle/>
          <a:p>
            <a:pPr algn="l"/>
            <a:r>
              <a:rPr sz="1000" b="0" i="0">
                <a:solidFill>
                  <a:srgbClr val="A8B4CF"/>
                </a:solidFill>
                <a:latin typeface="Segoe UI"/>
              </a:rPr>
              <a:t>20% label accuracy (HF 7B on A40) vs 0%
heuristic -- clear qualitative improvement,
honest about 10-example scope</a:t>
            </a:r>
          </a:p>
        </p:txBody>
      </p:sp>
      <p:sp>
        <p:nvSpPr>
          <p:cNvPr id="18" name="Rectangle 17"/>
          <p:cNvSpPr/>
          <p:nvPr/>
        </p:nvSpPr>
        <p:spPr>
          <a:xfrm>
            <a:off x="5157216" y="2057400"/>
            <a:ext cx="2212848" cy="3090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7216" y="2057400"/>
            <a:ext cx="221284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21808" y="2176272"/>
            <a:ext cx="1883664" cy="384048"/>
          </a:xfrm>
          <a:prstGeom prst="rect">
            <a:avLst/>
          </a:prstGeom>
          <a:noFill/>
        </p:spPr>
        <p:txBody>
          <a:bodyPr wrap="square">
            <a:spAutoFit/>
          </a:bodyPr>
          <a:lstStyle/>
          <a:p>
            <a:pPr algn="l"/>
            <a:r>
              <a:rPr sz="1300" b="1" i="0">
                <a:solidFill>
                  <a:srgbClr val="10B981"/>
                </a:solidFill>
                <a:latin typeface="Segoe UI"/>
              </a:rPr>
              <a:t>Retrieval</a:t>
            </a:r>
          </a:p>
        </p:txBody>
      </p:sp>
      <p:sp>
        <p:nvSpPr>
          <p:cNvPr id="21" name="TextBox 20"/>
          <p:cNvSpPr txBox="1"/>
          <p:nvPr/>
        </p:nvSpPr>
        <p:spPr>
          <a:xfrm>
            <a:off x="5321808" y="2633472"/>
            <a:ext cx="1883664" cy="2359152"/>
          </a:xfrm>
          <a:prstGeom prst="rect">
            <a:avLst/>
          </a:prstGeom>
          <a:noFill/>
        </p:spPr>
        <p:txBody>
          <a:bodyPr wrap="square">
            <a:spAutoFit/>
          </a:bodyPr>
          <a:lstStyle/>
          <a:p>
            <a:pPr algn="l"/>
            <a:r>
              <a:rPr sz="1000" b="0" i="0">
                <a:solidFill>
                  <a:srgbClr val="A8B4CF"/>
                </a:solidFill>
                <a:latin typeface="Segoe UI"/>
              </a:rPr>
              <a:t>Hybrid BM25 + Blake2b dense retrieval
CPU-only, &lt;1s full pipeline response,
zero cloud or GPU dependency</a:t>
            </a:r>
          </a:p>
        </p:txBody>
      </p:sp>
      <p:sp>
        <p:nvSpPr>
          <p:cNvPr id="22" name="Rectangle 21"/>
          <p:cNvSpPr/>
          <p:nvPr/>
        </p:nvSpPr>
        <p:spPr>
          <a:xfrm>
            <a:off x="7507224" y="2057400"/>
            <a:ext cx="2212848" cy="3090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07224" y="2057400"/>
            <a:ext cx="221284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176272"/>
            <a:ext cx="1883664" cy="384048"/>
          </a:xfrm>
          <a:prstGeom prst="rect">
            <a:avLst/>
          </a:prstGeom>
          <a:noFill/>
        </p:spPr>
        <p:txBody>
          <a:bodyPr wrap="square">
            <a:spAutoFit/>
          </a:bodyPr>
          <a:lstStyle/>
          <a:p>
            <a:pPr algn="l"/>
            <a:r>
              <a:rPr sz="1300" b="1" i="0">
                <a:solidFill>
                  <a:srgbClr val="F59E0B"/>
                </a:solidFill>
                <a:latin typeface="Segoe UI"/>
              </a:rPr>
              <a:t>Platform</a:t>
            </a:r>
          </a:p>
        </p:txBody>
      </p:sp>
      <p:sp>
        <p:nvSpPr>
          <p:cNvPr id="25" name="TextBox 24"/>
          <p:cNvSpPr txBox="1"/>
          <p:nvPr/>
        </p:nvSpPr>
        <p:spPr>
          <a:xfrm>
            <a:off x="7671816" y="2633472"/>
            <a:ext cx="1883664" cy="2359152"/>
          </a:xfrm>
          <a:prstGeom prst="rect">
            <a:avLst/>
          </a:prstGeom>
          <a:noFill/>
        </p:spPr>
        <p:txBody>
          <a:bodyPr wrap="square">
            <a:spAutoFit/>
          </a:bodyPr>
          <a:lstStyle/>
          <a:p>
            <a:pPr algn="l"/>
            <a:r>
              <a:rPr sz="1000" b="0" i="0">
                <a:solidFill>
                  <a:srgbClr val="A8B4CF"/>
                </a:solidFill>
                <a:latin typeface="Segoe UI"/>
              </a:rPr>
              <a:t>Next.js 15, 6-page research workspace
Evidence grounding, reflection transparency,
Zustand persistence, REST bridge</a:t>
            </a:r>
          </a:p>
        </p:txBody>
      </p:sp>
      <p:sp>
        <p:nvSpPr>
          <p:cNvPr id="26" name="Rectangle 25"/>
          <p:cNvSpPr/>
          <p:nvPr/>
        </p:nvSpPr>
        <p:spPr>
          <a:xfrm>
            <a:off x="9857232" y="2057400"/>
            <a:ext cx="2212848" cy="3090672"/>
          </a:xfrm>
          <a:prstGeom prst="roundRect">
            <a:avLst>
              <a:gd name="adj" fmla="val 8000"/>
            </a:avLst>
          </a:prstGeom>
          <a:solidFill>
            <a:srgbClr val="182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57232" y="2057400"/>
            <a:ext cx="221284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21824" y="2176272"/>
            <a:ext cx="1883664" cy="384048"/>
          </a:xfrm>
          <a:prstGeom prst="rect">
            <a:avLst/>
          </a:prstGeom>
          <a:noFill/>
        </p:spPr>
        <p:txBody>
          <a:bodyPr wrap="square">
            <a:spAutoFit/>
          </a:bodyPr>
          <a:lstStyle/>
          <a:p>
            <a:pPr algn="l"/>
            <a:r>
              <a:rPr sz="1300" b="1" i="0">
                <a:solidFill>
                  <a:srgbClr val="8B5CF6"/>
                </a:solidFill>
                <a:latin typeface="Segoe UI"/>
              </a:rPr>
              <a:t>Architecture</a:t>
            </a:r>
          </a:p>
        </p:txBody>
      </p:sp>
      <p:sp>
        <p:nvSpPr>
          <p:cNvPr id="29" name="TextBox 28"/>
          <p:cNvSpPr txBox="1"/>
          <p:nvPr/>
        </p:nvSpPr>
        <p:spPr>
          <a:xfrm>
            <a:off x="10021824" y="2633472"/>
            <a:ext cx="1883664" cy="2359152"/>
          </a:xfrm>
          <a:prstGeom prst="rect">
            <a:avLst/>
          </a:prstGeom>
          <a:noFill/>
        </p:spPr>
        <p:txBody>
          <a:bodyPr wrap="square">
            <a:spAutoFit/>
          </a:bodyPr>
          <a:lstStyle/>
          <a:p>
            <a:pPr algn="l"/>
            <a:r>
              <a:rPr sz="1000" b="0" i="0">
                <a:solidFill>
                  <a:srgbClr val="A8B4CF"/>
                </a:solidFill>
                <a:latin typeface="Segoe UI"/>
              </a:rPr>
              <a:t>4-layer hexagonal design, swappable backends
stdlib REST bridge, open source,
independently testable layers</a:t>
            </a:r>
          </a:p>
        </p:txBody>
      </p:sp>
      <p:sp>
        <p:nvSpPr>
          <p:cNvPr id="30" name="Rectangle 29"/>
          <p:cNvSpPr/>
          <p:nvPr/>
        </p:nvSpPr>
        <p:spPr>
          <a:xfrm>
            <a:off x="457200" y="5321808"/>
            <a:ext cx="11247120" cy="932688"/>
          </a:xfrm>
          <a:prstGeom prst="roundRect">
            <a:avLst>
              <a:gd name="adj" fmla="val 8000"/>
            </a:avLst>
          </a:prstGeom>
          <a:solidFill>
            <a:srgbClr val="111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321808"/>
            <a:ext cx="50292" cy="93268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394960"/>
            <a:ext cx="4114800" cy="438912"/>
          </a:xfrm>
          <a:prstGeom prst="rect">
            <a:avLst/>
          </a:prstGeom>
          <a:noFill/>
        </p:spPr>
        <p:txBody>
          <a:bodyPr wrap="square">
            <a:spAutoFit/>
          </a:bodyPr>
          <a:lstStyle/>
          <a:p>
            <a:pPr algn="l"/>
            <a:r>
              <a:rPr sz="2600" b="1" i="0">
                <a:solidFill>
                  <a:srgbClr val="FFFFFF"/>
                </a:solidFill>
                <a:latin typeface="Segoe UI"/>
              </a:rPr>
              <a:t>Thank You</a:t>
            </a:r>
          </a:p>
        </p:txBody>
      </p:sp>
      <p:sp>
        <p:nvSpPr>
          <p:cNvPr id="33" name="TextBox 32"/>
          <p:cNvSpPr txBox="1"/>
          <p:nvPr/>
        </p:nvSpPr>
        <p:spPr>
          <a:xfrm>
            <a:off x="658368" y="5833872"/>
            <a:ext cx="10515600" cy="320040"/>
          </a:xfrm>
          <a:prstGeom prst="rect">
            <a:avLst/>
          </a:prstGeom>
          <a:noFill/>
        </p:spPr>
        <p:txBody>
          <a:bodyPr wrap="square">
            <a:spAutoFit/>
          </a:bodyPr>
          <a:lstStyle/>
          <a:p>
            <a:pPr algn="l"/>
            <a:r>
              <a:rPr sz="1000" b="0" i="0">
                <a:solidFill>
                  <a:srgbClr val="A8B4CF"/>
                </a:solidFill>
                <a:latin typeface="Segoe UI"/>
              </a:rPr>
              <a:t>Bala Muhammad Abubakar  |  Chukwu John Okike  |  Supervisor: Yuchen Zhang</a:t>
            </a:r>
          </a:p>
        </p:txBody>
      </p:sp>
      <p:sp>
        <p:nvSpPr>
          <p:cNvPr id="34" name="TextBox 33"/>
          <p:cNvSpPr txBox="1"/>
          <p:nvPr/>
        </p:nvSpPr>
        <p:spPr>
          <a:xfrm>
            <a:off x="8412480" y="5422392"/>
            <a:ext cx="3108960" cy="384048"/>
          </a:xfrm>
          <a:prstGeom prst="rect">
            <a:avLst/>
          </a:prstGeom>
          <a:noFill/>
        </p:spPr>
        <p:txBody>
          <a:bodyPr wrap="square">
            <a:spAutoFit/>
          </a:bodyPr>
          <a:lstStyle/>
          <a:p>
            <a:pPr algn="r"/>
            <a:r>
              <a:rPr sz="1800" b="1" i="0">
                <a:solidFill>
                  <a:srgbClr val="4F46E5"/>
                </a:solidFill>
                <a:latin typeface="Segoe UI"/>
              </a:rPr>
              <a:t>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